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y="10287000" cx="18288000"/>
  <p:notesSz cx="6858000" cy="9144000"/>
  <p:embeddedFontLst>
    <p:embeddedFont>
      <p:font typeface="Inter Light"/>
      <p:regular r:id="rId68"/>
      <p:bold r:id="rId69"/>
      <p:italic r:id="rId70"/>
      <p:boldItalic r:id="rId71"/>
    </p:embeddedFont>
    <p:embeddedFont>
      <p:font typeface="Raleway ExtraBold"/>
      <p:bold r:id="rId72"/>
      <p:boldItalic r:id="rId73"/>
    </p:embeddedFont>
    <p:embeddedFont>
      <p:font typeface="Inter"/>
      <p:regular r:id="rId74"/>
      <p:bold r:id="rId75"/>
      <p:italic r:id="rId76"/>
      <p:boldItalic r:id="rId77"/>
    </p:embeddedFont>
    <p:embeddedFont>
      <p:font typeface="Montserrat Medium"/>
      <p:regular r:id="rId78"/>
      <p:bold r:id="rId79"/>
      <p:italic r:id="rId80"/>
      <p:boldItalic r:id="rId81"/>
    </p:embeddedFont>
    <p:embeddedFont>
      <p:font typeface="Roboto Light"/>
      <p:regular r:id="rId82"/>
      <p:bold r:id="rId83"/>
      <p:italic r:id="rId84"/>
      <p:boldItalic r:id="rId85"/>
    </p:embeddedFont>
    <p:embeddedFont>
      <p:font typeface="Helvetica Neue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driano Macarone Palmier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RobotoLight-italic.fntdata"/><Relationship Id="rId83" Type="http://schemas.openxmlformats.org/officeDocument/2006/relationships/font" Target="fonts/RobotoLight-bold.fntdata"/><Relationship Id="rId42" Type="http://schemas.openxmlformats.org/officeDocument/2006/relationships/slide" Target="slides/slide35.xml"/><Relationship Id="rId86" Type="http://schemas.openxmlformats.org/officeDocument/2006/relationships/font" Target="fonts/HelveticaNeue-regular.fntdata"/><Relationship Id="rId41" Type="http://schemas.openxmlformats.org/officeDocument/2006/relationships/slide" Target="slides/slide34.xml"/><Relationship Id="rId85" Type="http://schemas.openxmlformats.org/officeDocument/2006/relationships/font" Target="fonts/RobotoLight-boldItalic.fntdata"/><Relationship Id="rId44" Type="http://schemas.openxmlformats.org/officeDocument/2006/relationships/slide" Target="slides/slide37.xml"/><Relationship Id="rId88" Type="http://schemas.openxmlformats.org/officeDocument/2006/relationships/font" Target="fonts/HelveticaNeue-italic.fntdata"/><Relationship Id="rId43" Type="http://schemas.openxmlformats.org/officeDocument/2006/relationships/slide" Target="slides/slide36.xml"/><Relationship Id="rId87" Type="http://schemas.openxmlformats.org/officeDocument/2006/relationships/font" Target="fonts/HelveticaNeue-bold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HelveticaNeue-boldItalic.fntdata"/><Relationship Id="rId80" Type="http://schemas.openxmlformats.org/officeDocument/2006/relationships/font" Target="fonts/MontserratMedium-italic.fntdata"/><Relationship Id="rId82" Type="http://schemas.openxmlformats.org/officeDocument/2006/relationships/font" Target="fonts/RobotoLight-regular.fntdata"/><Relationship Id="rId81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alewayExtraBold-boldItalic.fntdata"/><Relationship Id="rId72" Type="http://schemas.openxmlformats.org/officeDocument/2006/relationships/font" Target="fonts/RalewayExtraBold-bold.fntdata"/><Relationship Id="rId31" Type="http://schemas.openxmlformats.org/officeDocument/2006/relationships/slide" Target="slides/slide24.xml"/><Relationship Id="rId75" Type="http://schemas.openxmlformats.org/officeDocument/2006/relationships/font" Target="fonts/Inter-bold.fntdata"/><Relationship Id="rId30" Type="http://schemas.openxmlformats.org/officeDocument/2006/relationships/slide" Target="slides/slide23.xml"/><Relationship Id="rId74" Type="http://schemas.openxmlformats.org/officeDocument/2006/relationships/font" Target="fonts/Inter-regular.fntdata"/><Relationship Id="rId33" Type="http://schemas.openxmlformats.org/officeDocument/2006/relationships/slide" Target="slides/slide26.xml"/><Relationship Id="rId77" Type="http://schemas.openxmlformats.org/officeDocument/2006/relationships/font" Target="fonts/Inter-boldItalic.fntdata"/><Relationship Id="rId32" Type="http://schemas.openxmlformats.org/officeDocument/2006/relationships/slide" Target="slides/slide25.xml"/><Relationship Id="rId76" Type="http://schemas.openxmlformats.org/officeDocument/2006/relationships/font" Target="fonts/Inter-italic.fntdata"/><Relationship Id="rId35" Type="http://schemas.openxmlformats.org/officeDocument/2006/relationships/slide" Target="slides/slide28.xml"/><Relationship Id="rId79" Type="http://schemas.openxmlformats.org/officeDocument/2006/relationships/font" Target="fonts/MontserratMedium-bold.fntdata"/><Relationship Id="rId34" Type="http://schemas.openxmlformats.org/officeDocument/2006/relationships/slide" Target="slides/slide27.xml"/><Relationship Id="rId78" Type="http://schemas.openxmlformats.org/officeDocument/2006/relationships/font" Target="fonts/MontserratMedium-regular.fntdata"/><Relationship Id="rId71" Type="http://schemas.openxmlformats.org/officeDocument/2006/relationships/font" Target="fonts/InterLight-boldItalic.fntdata"/><Relationship Id="rId70" Type="http://schemas.openxmlformats.org/officeDocument/2006/relationships/font" Target="fonts/InterLight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InterLight-regular.fntdata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InterLigh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11T10:30:46.195">
    <p:pos x="1626" y="1135"/>
    <p:text>need definition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4472fc6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8d4472fc6e_0_1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c4e34432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Collaborate with Leading Aerospace Companies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Secure pilot projects with industry leaders like SpaceX, Blue Origin, and NASA to validate and refine the technology.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Government Contracts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Pursue contracts with government space agencies (NASA, ESA) for exclusive use of simulation tools.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Academic Collaborations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Partner with top aerospace research universities for co-development and validation, building credibility and refining the technology.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8c4e34432f_0_26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d4472fc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8d4472fc6e_1_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d4472fc6e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8d4472fc6e_1_9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d4472fc6e_1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8d4472fc6e_1_42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d4472fc6e_1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8d4472fc6e_1_60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56dfae2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a56dfae282_0_1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56dfae2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a56dfae282_0_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56dfae28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56dfae282_0_2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56dfae2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56dfae282_0_1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56dfae28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a56dfae282_0_6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c4e3443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8c4e34432f_0_2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c4e34432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8c4e34432f_0_3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c4e34432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8c4e34432f_0_4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d4472fc6e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8d4472fc6e_1_49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d4472fc6e_1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8d4472fc6e_1_59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56dfae28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a56dfae282_0_4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56dfae28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56dfae282_0_5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d4472fc6e_1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8d4472fc6e_1_62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d4472fc6e_1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8d4472fc6e_1_54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d4472fc6e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38d4472fc6e_1_19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d4472fc6e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g38d4472fc6e_1_20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d4472fc6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8d4472fc6e_0_24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d63b74b00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g2d63b74b005_0_19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19e239c5e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19e239c5e6_0_9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e239c5e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19e239c5e6_0_4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8d4472fc6e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8d4472fc6e_1_34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8d4472fc6e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g38d4472fc6e_1_33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d4472fc6e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Partnerships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Collaborate with Leading Aerospace Companies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Secure pilot projects with industry leaders like SpaceX, Blue Origin, and NASA to validate and refine the technology.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Government Contracts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Pursue contracts with government space agencies (NASA, ESA) for exclusive use of simulation tools.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Academic Collaborations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Partner with top aerospace research universities for co-development and validation, building credibility and refining the technology.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8d4472fc6e_1_37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8d4472fc6e_1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Partnerships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Collaborate with Leading Aerospace Companies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Secure pilot projects with industry leaders like SpaceX, Blue Origin, and NASA to validate and refine the technology.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Government Contracts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Pursue contracts with government space agencies (NASA, ESA) for exclusive use of simulation tools.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Academic Collaborations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Partner with top aerospace research universities for co-development and validation, building credibility and refining the technology.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8d4472fc6e_1_40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8d4472fc6e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Partnerships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Collaborate with Leading Aerospace Companies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Secure pilot projects with industry leaders like SpaceX, Blue Origin, and NASA to validate and refine the technology.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Government Contracts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Pursue contracts with government space agencies (NASA, ESA) for exclusive use of simulation tools.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Academic Collaborations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Partner with top aerospace research universities for co-development and validation, building credibility and refining the technology.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8d4472fc6e_1_39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68f80f3ee5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368f80f3ee5_0_40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d63b74b00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2d63b74b005_0_10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8d4472fc6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8d4472fc6e_0_21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8d4472fc6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8d4472fc6e_0_22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c4e34432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g38c4e34432f_0_18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8d4472fc6e_1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8d4472fc6e_1_51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8d4472fc6e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8d4472fc6e_1_49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c4e34432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8c4e34432f_0_9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1db726864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g31db726864f_0_9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8d4472fc6e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g38d4472fc6e_1_23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8d4472fc6e_1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g38d4472fc6e_1_57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8d7c03462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8d7c034625_1_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8d7c03462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8d7c034625_1_1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8d4472fc6e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g38d4472fc6e_1_53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8d4472fc6e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3" name="Google Shape;663;g38d4472fc6e_1_24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8d4472fc6e_1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7" name="Google Shape;677;g38d4472fc6e_1_52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d4472fc6e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0" name="Google Shape;690;g38d4472fc6e_1_25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8d4472fc6e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2" name="Google Shape;702;g38d4472fc6e_1_56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8d4472fc6e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5" name="Google Shape;715;g38d4472fc6e_1_26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8d4472fc6e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g38d4472fc6e_1_28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8d4472fc6e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3" name="Google Shape;743;g38d4472fc6e_1_29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8d4472fc6e_1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5" name="Google Shape;755;g38d4472fc6e_1_43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8d4472fc6e_1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7" name="Google Shape;767;g38d4472fc6e_1_58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8d4472fc6e_1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g38d4472fc6e_1_44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8d4472fc6e_1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Highly Accurate Simulations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Integrate fundamental physics laws with neural networks to provide more accurate predictions of CFRP behavior under various conditions.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Significantly Faster Processing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Reduce simulation times from weeks to days or hours, enabling rapid design iterations.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Multi-Physics Capability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Simultaneously simulate structural, thermal, and fluid dynamics within a unified framework.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Customizable Interface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Tailor simulations to specific design requirements of different space missions.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8d4472fc6e_1_46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8d4472fc6e_1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3" name="Google Shape;803;g38d4472fc6e_1_65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d4472fc6e_1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5" name="Google Shape;815;g38d4472fc6e_1_66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8d4472fc6e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6" name="Google Shape;826;g38d4472fc6e_1_30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8d4472fc6e_1_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8d4472fc6e_1_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8d4472fc6e_1_4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911816" y="3595880"/>
            <a:ext cx="4464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7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743200" y="5760720"/>
            <a:ext cx="12801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7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21046" y="2600705"/>
            <a:ext cx="16046100" cy="6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7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FDFDF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>
            <p:ph idx="2" type="pic"/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7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914400" y="2366010"/>
            <a:ext cx="7955100" cy="6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9418320" y="2366010"/>
            <a:ext cx="7955100" cy="6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Slide">
  <p:cSld name="19_Title Slide">
    <p:bg>
      <p:bgPr>
        <a:solidFill>
          <a:srgbClr val="FDFDFD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>
            <p:ph idx="2" type="pic"/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" name="Google Shape;47;p8"/>
          <p:cNvSpPr/>
          <p:nvPr>
            <p:ph idx="3" type="pic"/>
          </p:nvPr>
        </p:nvSpPr>
        <p:spPr>
          <a:xfrm>
            <a:off x="12070255" y="0"/>
            <a:ext cx="5869500" cy="1028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ctrTitle"/>
          </p:nvPr>
        </p:nvSpPr>
        <p:spPr>
          <a:xfrm>
            <a:off x="6911816" y="3595880"/>
            <a:ext cx="4464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7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2743200" y="5760720"/>
            <a:ext cx="12801600" cy="25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7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1121046" y="2600705"/>
            <a:ext cx="16046400" cy="6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7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FDFDFD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>
            <p:ph idx="2" type="pic"/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7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91440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941832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Slide">
  <p:cSld name="19_Title Slide">
    <p:bg>
      <p:bgPr>
        <a:solidFill>
          <a:srgbClr val="FDFDFD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>
            <p:ph idx="2" type="pic"/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7" name="Google Shape;87;p17"/>
          <p:cNvSpPr/>
          <p:nvPr>
            <p:ph idx="3" type="pic"/>
          </p:nvPr>
        </p:nvSpPr>
        <p:spPr>
          <a:xfrm>
            <a:off x="12070255" y="0"/>
            <a:ext cx="5869800" cy="1028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914220" y="410400"/>
            <a:ext cx="164592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671150" y="2858050"/>
            <a:ext cx="14826000" cy="6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800"/>
              <a:buFont typeface="Roboto Light"/>
              <a:buNone/>
              <a:defRPr sz="2800"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rgbClr val="485776"/>
              </a:buClr>
              <a:buSzPts val="2200"/>
              <a:buFont typeface="Roboto Light"/>
              <a:buNone/>
              <a:defRPr>
                <a:solidFill>
                  <a:srgbClr val="485776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type="title"/>
          </p:nvPr>
        </p:nvSpPr>
        <p:spPr>
          <a:xfrm>
            <a:off x="1607400" y="1517100"/>
            <a:ext cx="15622200" cy="10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8EA7"/>
              </a:buClr>
              <a:buSzPts val="3600"/>
              <a:buFont typeface="Montserrat Medium"/>
              <a:buNone/>
              <a:defRPr b="0" sz="3600">
                <a:solidFill>
                  <a:srgbClr val="808EA7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2" type="title"/>
          </p:nvPr>
        </p:nvSpPr>
        <p:spPr>
          <a:xfrm>
            <a:off x="1607400" y="854750"/>
            <a:ext cx="15622200" cy="11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7" name="Google Shape;97;p21"/>
          <p:cNvSpPr/>
          <p:nvPr/>
        </p:nvSpPr>
        <p:spPr>
          <a:xfrm>
            <a:off x="17582850" y="6952000"/>
            <a:ext cx="705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57886" y="8076153"/>
            <a:ext cx="4729950" cy="221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115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/>
        </p:nvSpPr>
        <p:spPr>
          <a:xfrm>
            <a:off x="841743" y="406400"/>
            <a:ext cx="85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16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1" name="Google Shape;101;p22"/>
          <p:cNvCxnSpPr/>
          <p:nvPr/>
        </p:nvCxnSpPr>
        <p:spPr>
          <a:xfrm rot="10800000">
            <a:off x="1121050" y="558800"/>
            <a:ext cx="298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22"/>
          <p:cNvSpPr txBox="1"/>
          <p:nvPr>
            <p:ph idx="1" type="subTitle"/>
          </p:nvPr>
        </p:nvSpPr>
        <p:spPr>
          <a:xfrm>
            <a:off x="6973150" y="5413900"/>
            <a:ext cx="2932800" cy="15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6832150" y="5964650"/>
            <a:ext cx="3214800" cy="17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1pPr>
            <a:lvl2pPr indent="-2286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2pPr>
            <a:lvl3pPr indent="-2286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3pPr>
            <a:lvl4pPr indent="-2286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4pPr>
            <a:lvl5pPr indent="-2286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5pPr>
            <a:lvl6pPr indent="-2286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6pPr>
            <a:lvl7pPr indent="-2286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7pPr>
            <a:lvl8pPr indent="-2286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8pPr>
            <a:lvl9pPr indent="-2286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04" name="Google Shape;104;p22"/>
          <p:cNvCxnSpPr>
            <a:endCxn id="105" idx="2"/>
          </p:cNvCxnSpPr>
          <p:nvPr/>
        </p:nvCxnSpPr>
        <p:spPr>
          <a:xfrm>
            <a:off x="5808550" y="4096932"/>
            <a:ext cx="1543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22"/>
          <p:cNvCxnSpPr/>
          <p:nvPr/>
        </p:nvCxnSpPr>
        <p:spPr>
          <a:xfrm>
            <a:off x="9531848" y="4096932"/>
            <a:ext cx="1543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2"/>
          <p:cNvCxnSpPr/>
          <p:nvPr/>
        </p:nvCxnSpPr>
        <p:spPr>
          <a:xfrm>
            <a:off x="13271473" y="4096932"/>
            <a:ext cx="1543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22"/>
          <p:cNvSpPr/>
          <p:nvPr/>
        </p:nvSpPr>
        <p:spPr>
          <a:xfrm>
            <a:off x="7352350" y="3009732"/>
            <a:ext cx="2174400" cy="21744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11097025" y="3009732"/>
            <a:ext cx="2174400" cy="21744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14835450" y="3009732"/>
            <a:ext cx="2174400" cy="21744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22"/>
          <p:cNvSpPr txBox="1"/>
          <p:nvPr>
            <p:ph idx="3" type="subTitle"/>
          </p:nvPr>
        </p:nvSpPr>
        <p:spPr>
          <a:xfrm>
            <a:off x="10717850" y="5413900"/>
            <a:ext cx="2932800" cy="15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4" type="body"/>
          </p:nvPr>
        </p:nvSpPr>
        <p:spPr>
          <a:xfrm>
            <a:off x="10576850" y="5964650"/>
            <a:ext cx="3214800" cy="17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1pPr>
            <a:lvl2pPr indent="-2286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2pPr>
            <a:lvl3pPr indent="-2286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3pPr>
            <a:lvl4pPr indent="-2286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4pPr>
            <a:lvl5pPr indent="-2286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5pPr>
            <a:lvl6pPr indent="-2286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6pPr>
            <a:lvl7pPr indent="-2286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7pPr>
            <a:lvl8pPr indent="-2286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8pPr>
            <a:lvl9pPr indent="-2286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5" type="subTitle"/>
          </p:nvPr>
        </p:nvSpPr>
        <p:spPr>
          <a:xfrm>
            <a:off x="14462550" y="5413900"/>
            <a:ext cx="2932800" cy="15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6" type="body"/>
          </p:nvPr>
        </p:nvSpPr>
        <p:spPr>
          <a:xfrm>
            <a:off x="14321550" y="5964650"/>
            <a:ext cx="3214800" cy="17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1pPr>
            <a:lvl2pPr indent="-2286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2pPr>
            <a:lvl3pPr indent="-2286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3pPr>
            <a:lvl4pPr indent="-2286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4pPr>
            <a:lvl5pPr indent="-2286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5pPr>
            <a:lvl6pPr indent="-2286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6pPr>
            <a:lvl7pPr indent="-2286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7pPr>
            <a:lvl8pPr indent="-2286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8pPr>
            <a:lvl9pPr indent="-2286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4" name="Google Shape;114;p22"/>
          <p:cNvSpPr/>
          <p:nvPr/>
        </p:nvSpPr>
        <p:spPr>
          <a:xfrm>
            <a:off x="1206950" y="5413900"/>
            <a:ext cx="4626600" cy="28272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800">
              <a:solidFill>
                <a:srgbClr val="F6F5EC"/>
              </a:solidFill>
            </a:endParaRPr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901700" y="1193600"/>
            <a:ext cx="13535400" cy="28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body"/>
          </p:nvPr>
        </p:nvSpPr>
        <p:spPr>
          <a:xfrm>
            <a:off x="1206950" y="5516800"/>
            <a:ext cx="4626600" cy="26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2"/>
          <p:cNvSpPr/>
          <p:nvPr/>
        </p:nvSpPr>
        <p:spPr>
          <a:xfrm>
            <a:off x="1206950" y="9499600"/>
            <a:ext cx="1536000" cy="381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14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3289300" y="9499600"/>
            <a:ext cx="1536000" cy="381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14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TITLE_AND_BODY_1"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81719"/>
          </a:solidFill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839199" y="9260681"/>
            <a:ext cx="4267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57150" spcFirstLastPara="1" rIns="57150" wrap="square" tIns="5715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81719"/>
          </a:solidFill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839199" y="9260681"/>
            <a:ext cx="4267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57150" spcFirstLastPara="1" rIns="57150" wrap="square" tIns="5715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21046" y="2600705"/>
            <a:ext cx="16046100" cy="6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7708049" y="9801606"/>
            <a:ext cx="271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67360" y="9566910"/>
            <a:ext cx="42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3216496" y="596648"/>
            <a:ext cx="11854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7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1121046" y="2600705"/>
            <a:ext cx="16046400" cy="6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7708049" y="9801606"/>
            <a:ext cx="2719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914400" y="9566910"/>
            <a:ext cx="4206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13167360" y="9566910"/>
            <a:ext cx="420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ennylane.ai/" TargetMode="External"/><Relationship Id="rId4" Type="http://schemas.openxmlformats.org/officeDocument/2006/relationships/hyperlink" Target="https://developer.nvidia.com/blog/nvidia-announces-modulus-a-framework-for-developing-physics-ml-models-for-digital-twins/" TargetMode="External"/><Relationship Id="rId5" Type="http://schemas.openxmlformats.org/officeDocument/2006/relationships/image" Target="../media/image30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20" Type="http://schemas.openxmlformats.org/officeDocument/2006/relationships/hyperlink" Target="https://doi.org/10.1016/j.jcp.2024.113698" TargetMode="External"/><Relationship Id="rId11" Type="http://schemas.openxmlformats.org/officeDocument/2006/relationships/hyperlink" Target="https://arxiv.org/abs/2403.08954" TargetMode="External"/><Relationship Id="rId22" Type="http://schemas.openxmlformats.org/officeDocument/2006/relationships/hyperlink" Target="https://doi.org/10.1016/j.jcp.2024.113698" TargetMode="External"/><Relationship Id="rId10" Type="http://schemas.openxmlformats.org/officeDocument/2006/relationships/hyperlink" Target="https://arxiv.org/abs/2403.08954" TargetMode="External"/><Relationship Id="rId21" Type="http://schemas.openxmlformats.org/officeDocument/2006/relationships/hyperlink" Target="https://doi.org/10.1016/j.jcp.2024.113698" TargetMode="External"/><Relationship Id="rId13" Type="http://schemas.openxmlformats.org/officeDocument/2006/relationships/hyperlink" Target="https://doi.org/10.1080/00219592.2023.2236656" TargetMode="External"/><Relationship Id="rId24" Type="http://schemas.openxmlformats.org/officeDocument/2006/relationships/hyperlink" Target="https://doi.org/10.1063/5.0271778" TargetMode="External"/><Relationship Id="rId12" Type="http://schemas.openxmlformats.org/officeDocument/2006/relationships/hyperlink" Target="https://doi.org/10.1080/00219592.2023.2236656" TargetMode="External"/><Relationship Id="rId23" Type="http://schemas.openxmlformats.org/officeDocument/2006/relationships/hyperlink" Target="https://doi.org/10.1063/5.0271778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arxiv.org/abs/2503.16678" TargetMode="External"/><Relationship Id="rId4" Type="http://schemas.openxmlformats.org/officeDocument/2006/relationships/hyperlink" Target="https://arxiv.org/abs/2503.16678" TargetMode="External"/><Relationship Id="rId9" Type="http://schemas.openxmlformats.org/officeDocument/2006/relationships/hyperlink" Target="https://arxiv.org/abs/2403.08954" TargetMode="External"/><Relationship Id="rId15" Type="http://schemas.openxmlformats.org/officeDocument/2006/relationships/hyperlink" Target="https://doi.org/10.1063/5.0123811" TargetMode="External"/><Relationship Id="rId14" Type="http://schemas.openxmlformats.org/officeDocument/2006/relationships/hyperlink" Target="https://doi.org/10.1080/00219592.2023.2236656" TargetMode="External"/><Relationship Id="rId17" Type="http://schemas.openxmlformats.org/officeDocument/2006/relationships/hyperlink" Target="https://doi.org/10.1063/5.0123811" TargetMode="External"/><Relationship Id="rId16" Type="http://schemas.openxmlformats.org/officeDocument/2006/relationships/hyperlink" Target="https://doi.org/10.1063/5.0123811" TargetMode="External"/><Relationship Id="rId5" Type="http://schemas.openxmlformats.org/officeDocument/2006/relationships/hyperlink" Target="https://arxiv.org/abs/2503.16678" TargetMode="External"/><Relationship Id="rId19" Type="http://schemas.openxmlformats.org/officeDocument/2006/relationships/hyperlink" Target="https://github.com/callmedrcom/SIPINN" TargetMode="External"/><Relationship Id="rId6" Type="http://schemas.openxmlformats.org/officeDocument/2006/relationships/hyperlink" Target="https://doi.org/10.1088/2632-2153/ad43b2" TargetMode="External"/><Relationship Id="rId18" Type="http://schemas.openxmlformats.org/officeDocument/2006/relationships/hyperlink" Target="https://github.com/callmedrcom/SIPINN" TargetMode="External"/><Relationship Id="rId7" Type="http://schemas.openxmlformats.org/officeDocument/2006/relationships/hyperlink" Target="https://doi.org/10.1088/2632-2153/ad43b2" TargetMode="External"/><Relationship Id="rId8" Type="http://schemas.openxmlformats.org/officeDocument/2006/relationships/hyperlink" Target="https://doi.org/10.1088/2632-2153/ad43b2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hyperlink" Target="https://quasi.digita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Relationship Id="rId5" Type="http://schemas.openxmlformats.org/officeDocument/2006/relationships/hyperlink" Target="https://www.linkedin.com/in/a-seshaditya-7180822a5/" TargetMode="External"/><Relationship Id="rId6" Type="http://schemas.openxmlformats.org/officeDocument/2006/relationships/image" Target="../media/image4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comments" Target="../comments/comment1.xml"/><Relationship Id="rId4" Type="http://schemas.openxmlformats.org/officeDocument/2006/relationships/image" Target="../media/image57.png"/><Relationship Id="rId5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387425" y="2851250"/>
            <a:ext cx="13922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4800">
                <a:latin typeface="Raleway ExtraBold"/>
                <a:ea typeface="Raleway ExtraBold"/>
                <a:cs typeface="Raleway ExtraBold"/>
                <a:sym typeface="Raleway ExtraBold"/>
              </a:rPr>
              <a:t>Combining Quantum with Physics-Inspired AI Models for Accelerating CFD Simulations</a:t>
            </a:r>
            <a:endParaRPr sz="48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6719069" y="5468650"/>
            <a:ext cx="5023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A Seshaditya</a:t>
            </a:r>
            <a:br>
              <a:rPr b="1" lang="en-US" sz="5300">
                <a:solidFill>
                  <a:schemeClr val="dk1"/>
                </a:solidFill>
              </a:rPr>
            </a:br>
            <a:r>
              <a:rPr b="1" lang="en-US" sz="5300">
                <a:solidFill>
                  <a:schemeClr val="dk1"/>
                </a:solidFill>
              </a:rPr>
              <a:t>      Quasi 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950200" y="966403"/>
            <a:ext cx="12387600" cy="85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Introduction to Use Cases </a:t>
            </a:r>
            <a:endParaRPr b="1" sz="37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Silicon Crystal Growth Simulations</a:t>
            </a:r>
            <a:br>
              <a:rPr b="1" lang="en-US" sz="3700">
                <a:solidFill>
                  <a:schemeClr val="dk1"/>
                </a:solidFill>
              </a:rPr>
            </a:br>
            <a:r>
              <a:rPr b="1" lang="en-US" sz="3700">
                <a:solidFill>
                  <a:schemeClr val="dk1"/>
                </a:solidFill>
              </a:rPr>
              <a:t>Cryogenic Vessels Design</a:t>
            </a:r>
            <a:endParaRPr b="1" sz="3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Approaches</a:t>
            </a:r>
            <a:r>
              <a:rPr b="1" lang="en-US" sz="3700">
                <a:solidFill>
                  <a:schemeClr val="dk1"/>
                </a:solidFill>
              </a:rPr>
              <a:t> </a:t>
            </a:r>
            <a:endParaRPr b="1" sz="37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Classical</a:t>
            </a:r>
            <a:r>
              <a:rPr b="1" lang="en-US" sz="3700">
                <a:solidFill>
                  <a:schemeClr val="dk1"/>
                </a:solidFill>
              </a:rPr>
              <a:t> AI - PINN/PI-GANO/GAOT</a:t>
            </a:r>
            <a:endParaRPr b="1" sz="37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Hybrid-Quantum - QPINNs </a:t>
            </a:r>
            <a:endParaRPr b="1" sz="3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Outlook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 </a:t>
            </a:r>
            <a:endParaRPr b="1" sz="4300"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7074883" y="-12"/>
            <a:ext cx="3210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Outline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lt1"/>
                </a:solidFill>
              </a:rPr>
              <a:t>{:format :pointed-dict, :data [{#uuid "44ea032a-76b6-419e-bb07-e2b6786c7596" {:entity-type :block, :coords {:y-start 0.13655769816811772, :x-start 0.44545579108342953, :x-end 0.5539836687824496, :y-end 0.3383207750269106}, :original-aspect-ratio? true, :media-asset-ids #{#uuid "d4550b4b-b18b-4767-b6eb-50e059e92f31"}, :image-aspect-ratio 0.9562624254473161, :url "https://pitch-assets-ccb95893-de3f-4266-973c-20049231b248.s3.eu-west-1.amazonaws.com/d4550b4b-b18b-4767-b6eb-50e059e92f31?pitch-bytes=237512&amp;pitch-content-type=image%2Fpng", :block-type :image, :image-scale-x 1, :locked-aspect-ratio? false, :created-at 1747681534919}} [#uuid "44ea032a-76b6-419e-bb07-e2b6786c7596"]]}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482556" y="1429550"/>
            <a:ext cx="936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4800">
                <a:latin typeface="Raleway ExtraBold"/>
                <a:ea typeface="Raleway ExtraBold"/>
                <a:cs typeface="Raleway ExtraBold"/>
                <a:sym typeface="Raleway ExtraBold"/>
              </a:rPr>
              <a:t>Accelerating CFD Simulations</a:t>
            </a:r>
            <a:endParaRPr sz="48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56" name="Google Shape;156;p27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450" y="3869875"/>
            <a:ext cx="8013362" cy="477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10487" y="6294950"/>
            <a:ext cx="3250412" cy="22212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17503" y="3037324"/>
            <a:ext cx="3403801" cy="235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13462888" y="8664800"/>
            <a:ext cx="291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Perovskites  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13205087" y="5496350"/>
            <a:ext cx="359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Silicon Wafers  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057175" y="2868213"/>
            <a:ext cx="60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Real-Time Digital Twins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913750" y="5114550"/>
            <a:ext cx="32502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SDG 9</a:t>
            </a:r>
            <a:b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Ind, Inno  infra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11142450" y="5296200"/>
            <a:ext cx="19920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SDG 12</a:t>
            </a:r>
            <a:b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Cons &amp; Prod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2432000" y="8746188"/>
            <a:ext cx="11313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</a:rPr>
              <a:t>   </a:t>
            </a:r>
            <a:r>
              <a:rPr b="1" lang="en-US" sz="3600">
                <a:solidFill>
                  <a:srgbClr val="000000"/>
                </a:solidFill>
              </a:rPr>
              <a:t>Bringing Quantum Advantage through AI 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</a:rPr>
              <a:t>(Hybrid Approaches on QPU/GPUs Hardware)  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5138376" y="106138"/>
            <a:ext cx="8013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/>
              <a:t>Silicon Crystal Growth </a:t>
            </a:r>
            <a:endParaRPr b="1" sz="5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/>
        </p:nvSpPr>
        <p:spPr>
          <a:xfrm>
            <a:off x="0" y="-294675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2200">
                <a:solidFill>
                  <a:schemeClr val="lt1"/>
                </a:solidFill>
              </a:rPr>
              <a:t>QML Quantum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75" name="Google Shape;175;p28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557850" y="8926225"/>
            <a:ext cx="1000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Collaboration with Indo-Australian Startup 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050" y="5009962"/>
            <a:ext cx="4980528" cy="3257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chine with a black cylinder&#10;&#10;Description automatically generated" id="181" name="Google Shape;181;p28"/>
          <p:cNvPicPr preferRelativeResize="0"/>
          <p:nvPr/>
        </p:nvPicPr>
        <p:blipFill rotWithShape="1">
          <a:blip r:embed="rId4">
            <a:alphaModFix/>
          </a:blip>
          <a:srcRect b="24539" l="0" r="0" t="19206"/>
          <a:stretch/>
        </p:blipFill>
        <p:spPr>
          <a:xfrm>
            <a:off x="11406281" y="5009950"/>
            <a:ext cx="4603145" cy="325775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4174425" y="201863"/>
            <a:ext cx="9354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/>
              <a:t>Designing Cryogenic Vessels </a:t>
            </a:r>
            <a:endParaRPr b="1" sz="5000">
              <a:solidFill>
                <a:srgbClr val="000000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3576850" y="1182913"/>
            <a:ext cx="119664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Accelerating CFD Reduces Design to Production Time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6575" y="2032513"/>
            <a:ext cx="45148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7252375" y="6073425"/>
            <a:ext cx="37884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Green Hydrogen     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    Economy   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951125" y="4315500"/>
            <a:ext cx="10653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</a:rPr>
              <a:t> </a:t>
            </a:r>
            <a:r>
              <a:rPr b="1" lang="en-US" sz="4300">
                <a:solidFill>
                  <a:schemeClr val="dk1"/>
                </a:solidFill>
              </a:rPr>
              <a:t>Classical Physics-Inspired AI models</a:t>
            </a:r>
            <a:endParaRPr b="1"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241100" y="9679725"/>
            <a:ext cx="68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https://doi.org/10.1063/5.0226232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988" y="1188075"/>
            <a:ext cx="14205923" cy="73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5559925" y="205358"/>
            <a:ext cx="807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PINNs: Combining Physics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3106675" y="8678150"/>
            <a:ext cx="139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Multi-Physics Capability with Less Data or Conditions</a:t>
            </a:r>
            <a:endParaRPr b="1" sz="4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1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241100" y="9679725"/>
            <a:ext cx="68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https://doi.org/10.1063/5.0226232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6032725" y="124975"/>
            <a:ext cx="634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PINNs: Combining Physics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3106675" y="8678150"/>
            <a:ext cx="139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Multi-Physics Capability with Less Data or Conditions</a:t>
            </a:r>
            <a:endParaRPr b="1" sz="4500">
              <a:solidFill>
                <a:schemeClr val="dk1"/>
              </a:solidFill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650" y="1366250"/>
            <a:ext cx="13931101" cy="65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2281200" y="8504125"/>
            <a:ext cx="1399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Higher Accuracy &amp; Multi-Physics Capability with Less Data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4478095" y="285725"/>
            <a:ext cx="959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PINO: Physics Inspired Neural Operators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00" y="1199165"/>
            <a:ext cx="12910200" cy="68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5629800" y="8745742"/>
            <a:ext cx="736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Higher Generalisability Data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4478095" y="285725"/>
            <a:ext cx="959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PINO: Physics Inspired Neural Operators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687" y="1466300"/>
            <a:ext cx="12474524" cy="73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4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6808253" y="230388"/>
            <a:ext cx="4253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Comparison</a:t>
            </a:r>
            <a:endParaRPr b="1" sz="5300">
              <a:solidFill>
                <a:schemeClr val="dk1"/>
              </a:solidFill>
            </a:endParaRPr>
          </a:p>
        </p:txBody>
      </p:sp>
      <p:pic>
        <p:nvPicPr>
          <p:cNvPr id="249" name="Google Shape;24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700" y="1518189"/>
            <a:ext cx="14555549" cy="772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5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6808253" y="230388"/>
            <a:ext cx="4253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Comparison</a:t>
            </a:r>
            <a:endParaRPr b="1" sz="5300">
              <a:solidFill>
                <a:schemeClr val="dk1"/>
              </a:solidFill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237" y="1466475"/>
            <a:ext cx="14847525" cy="782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1879325" y="8814225"/>
            <a:ext cx="1502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Generalize across PDE parameter representations and geometries 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3842350" y="277578"/>
            <a:ext cx="1029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PI- GANO: Geometry Aware Neural Operator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268" name="Google Shape;2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287" y="1222360"/>
            <a:ext cx="13243426" cy="738596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/>
        </p:nvSpPr>
        <p:spPr>
          <a:xfrm>
            <a:off x="241100" y="9679725"/>
            <a:ext cx="4795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</a:t>
            </a:r>
            <a:r>
              <a:rPr lang="en-US" sz="2700">
                <a:solidFill>
                  <a:schemeClr val="dk1"/>
                </a:solidFill>
              </a:rPr>
              <a:t>arXiv:2408.01600v1</a:t>
            </a:r>
            <a:r>
              <a:rPr lang="en-US" sz="2700">
                <a:solidFill>
                  <a:schemeClr val="dk1"/>
                </a:solidFill>
              </a:rPr>
              <a:t>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3566100" y="205353"/>
            <a:ext cx="111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GAOT: Geometry Aware Operator Transformers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325" y="1073336"/>
            <a:ext cx="13350600" cy="751291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/>
        </p:nvSpPr>
        <p:spPr>
          <a:xfrm>
            <a:off x="214300" y="9679500"/>
            <a:ext cx="11010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</a:t>
            </a:r>
            <a:r>
              <a:rPr lang="en-US" sz="2700">
                <a:solidFill>
                  <a:schemeClr val="dk1"/>
                </a:solidFill>
              </a:rPr>
              <a:t>arXiv:2505.18781v2   https://camlab-ethz.github.io/GAOT/</a:t>
            </a:r>
            <a:r>
              <a:rPr lang="en-US" sz="2700">
                <a:solidFill>
                  <a:schemeClr val="dk1"/>
                </a:solidFill>
              </a:rPr>
              <a:t>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2296775" y="9033225"/>
            <a:ext cx="1280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M</a:t>
            </a:r>
            <a:r>
              <a:rPr b="1" lang="en-US" sz="3600">
                <a:solidFill>
                  <a:schemeClr val="dk1"/>
                </a:solidFill>
              </a:rPr>
              <a:t>ultiscale Attentional Graph Neural Operator (MAGNO) 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6808253" y="230388"/>
            <a:ext cx="4253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Comparison</a:t>
            </a:r>
            <a:endParaRPr b="1" sz="5300">
              <a:solidFill>
                <a:schemeClr val="dk1"/>
              </a:solidFill>
            </a:endParaRPr>
          </a:p>
        </p:txBody>
      </p:sp>
      <p:pic>
        <p:nvPicPr>
          <p:cNvPr id="289" name="Google Shape;2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650" y="1412475"/>
            <a:ext cx="14210301" cy="79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4951775" y="285725"/>
            <a:ext cx="865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Silicon Crystal Growth (CZ process)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298" name="Google Shape;2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975" y="1857450"/>
            <a:ext cx="10457825" cy="602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83700" y="4229337"/>
            <a:ext cx="4955976" cy="22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 txBox="1"/>
          <p:nvPr/>
        </p:nvSpPr>
        <p:spPr>
          <a:xfrm>
            <a:off x="2508550" y="8458675"/>
            <a:ext cx="1474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Navier–Stokes(NS), Particle Transport, and Heat Transfer equation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267872" y="9679725"/>
            <a:ext cx="5679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</a:t>
            </a:r>
            <a:r>
              <a:rPr lang="en-US" sz="2700">
                <a:solidFill>
                  <a:schemeClr val="dk1"/>
                </a:solidFill>
              </a:rPr>
              <a:t>doi: 10.1063/5.0271778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3144450" y="285738"/>
            <a:ext cx="119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</a:t>
            </a:r>
            <a:r>
              <a:rPr b="1" lang="en-US" sz="3600">
                <a:solidFill>
                  <a:schemeClr val="dk1"/>
                </a:solidFill>
              </a:rPr>
              <a:t>patial Information &amp; Adaptive Loss Balance PINN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310" name="Google Shape;3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112" y="1292550"/>
            <a:ext cx="13813776" cy="720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 txBox="1"/>
          <p:nvPr/>
        </p:nvSpPr>
        <p:spPr>
          <a:xfrm>
            <a:off x="2347800" y="8498825"/>
            <a:ext cx="1506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O</a:t>
            </a:r>
            <a:r>
              <a:rPr b="1" lang="en-US" sz="3600">
                <a:solidFill>
                  <a:schemeClr val="dk1"/>
                </a:solidFill>
              </a:rPr>
              <a:t>ptimizes the thermal-</a:t>
            </a:r>
            <a:r>
              <a:rPr b="1" lang="en-US" sz="3600">
                <a:solidFill>
                  <a:schemeClr val="dk1"/>
                </a:solidFill>
              </a:rPr>
              <a:t>fluid</a:t>
            </a:r>
            <a:r>
              <a:rPr b="1" lang="en-US" sz="3600">
                <a:solidFill>
                  <a:schemeClr val="dk1"/>
                </a:solidFill>
              </a:rPr>
              <a:t> coupling and Improves training stability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12" name="Google Shape;312;p40"/>
          <p:cNvSpPr txBox="1"/>
          <p:nvPr/>
        </p:nvSpPr>
        <p:spPr>
          <a:xfrm>
            <a:off x="160722" y="9681125"/>
            <a:ext cx="5679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doi: 10.1063/5.0271778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1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3144450" y="151788"/>
            <a:ext cx="119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Spatial Information &amp; Adaptive Loss Balance PINN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sp>
        <p:nvSpPr>
          <p:cNvPr id="321" name="Google Shape;321;p41"/>
          <p:cNvSpPr txBox="1"/>
          <p:nvPr/>
        </p:nvSpPr>
        <p:spPr>
          <a:xfrm>
            <a:off x="2321000" y="8690525"/>
            <a:ext cx="1506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Optimizes the thermal-fluid coupling and Improves training stability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160722" y="9681125"/>
            <a:ext cx="5679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doi: 10.1063/5.0271778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323" name="Google Shape;3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420" y="1249400"/>
            <a:ext cx="9777999" cy="744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2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2"/>
          <p:cNvSpPr txBox="1"/>
          <p:nvPr/>
        </p:nvSpPr>
        <p:spPr>
          <a:xfrm>
            <a:off x="3144450" y="285738"/>
            <a:ext cx="119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Spatial Information &amp; Adaptive Loss Balance PINN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2347800" y="8689825"/>
            <a:ext cx="1506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Optimizes the thermal-fluid coupling and Improves training stability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160722" y="9681125"/>
            <a:ext cx="5679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doi: 10.1063/5.0271778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547" y="1198525"/>
            <a:ext cx="9323734" cy="731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2956925" y="464125"/>
            <a:ext cx="1158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Spatial Information &amp; Adaptive Loss Balance PINN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343" name="Google Shape;3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637" y="1494775"/>
            <a:ext cx="13978174" cy="789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3"/>
          <p:cNvSpPr txBox="1"/>
          <p:nvPr/>
        </p:nvSpPr>
        <p:spPr>
          <a:xfrm>
            <a:off x="267872" y="9679725"/>
            <a:ext cx="5679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doi: 10.1063/5.0271778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4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4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4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4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4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2794475" y="4342289"/>
            <a:ext cx="13038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Hybrid </a:t>
            </a:r>
            <a:r>
              <a:rPr b="1" lang="en-US" sz="3600">
                <a:solidFill>
                  <a:schemeClr val="dk1"/>
                </a:solidFill>
              </a:rPr>
              <a:t>Quantum</a:t>
            </a:r>
            <a:r>
              <a:rPr b="1" lang="en-US" sz="3600">
                <a:solidFill>
                  <a:schemeClr val="dk1"/>
                </a:solidFill>
              </a:rPr>
              <a:t>-</a:t>
            </a:r>
            <a:r>
              <a:rPr b="1" lang="en-US" sz="3700">
                <a:solidFill>
                  <a:schemeClr val="dk1"/>
                </a:solidFill>
              </a:rPr>
              <a:t>Classical Physics-Inspired AI Models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5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/>
          <p:nvPr/>
        </p:nvSpPr>
        <p:spPr>
          <a:xfrm>
            <a:off x="4126400" y="239688"/>
            <a:ext cx="94497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65" name="Google Shape;365;p45"/>
          <p:cNvSpPr txBox="1"/>
          <p:nvPr/>
        </p:nvSpPr>
        <p:spPr>
          <a:xfrm>
            <a:off x="161150" y="9534950"/>
            <a:ext cx="8165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https://www.mdpi.com/1099-4300/26/8/649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5438175" y="8318425"/>
            <a:ext cx="925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M</a:t>
            </a:r>
            <a:r>
              <a:rPr b="1" lang="en-US" sz="3600">
                <a:solidFill>
                  <a:schemeClr val="dk1"/>
                </a:solidFill>
              </a:rPr>
              <a:t>ulti-variational layer quantum network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67" name="Google Shape;3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1250" y="1658888"/>
            <a:ext cx="12685476" cy="62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4056375" y="239675"/>
            <a:ext cx="94497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161150" y="9534950"/>
            <a:ext cx="8165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https://www.mdpi.com/1099-4300/26/8/649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3063375" y="8155775"/>
            <a:ext cx="1143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Quantum node 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ayer combined with c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assica</a:t>
            </a:r>
            <a:r>
              <a:rPr b="1" lang="en-US" sz="3300">
                <a:solidFill>
                  <a:schemeClr val="dk1"/>
                </a:solidFill>
              </a:rPr>
              <a:t>l layers </a:t>
            </a:r>
            <a:r>
              <a:rPr b="1" lang="en-US" sz="3600">
                <a:solidFill>
                  <a:schemeClr val="dk1"/>
                </a:solidFill>
              </a:rPr>
              <a:t>  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79" name="Google Shape;3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050" y="2357650"/>
            <a:ext cx="12816350" cy="52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7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7"/>
          <p:cNvSpPr/>
          <p:nvPr/>
        </p:nvSpPr>
        <p:spPr>
          <a:xfrm>
            <a:off x="3312138" y="239688"/>
            <a:ext cx="107361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Hybrid 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88" name="Google Shape;388;p47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389" name="Google Shape;3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500" y="1355100"/>
            <a:ext cx="13760901" cy="73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7"/>
          <p:cNvSpPr txBox="1"/>
          <p:nvPr/>
        </p:nvSpPr>
        <p:spPr>
          <a:xfrm>
            <a:off x="2624550" y="8655338"/>
            <a:ext cx="13038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Variational Quantum Circuit (VQC) with focus on Geometry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96" name="Google Shape;396;p48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8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8"/>
          <p:cNvSpPr/>
          <p:nvPr/>
        </p:nvSpPr>
        <p:spPr>
          <a:xfrm>
            <a:off x="6896188" y="239675"/>
            <a:ext cx="49509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Simulation Results</a:t>
            </a:r>
            <a:endParaRPr b="1" sz="6200"/>
          </a:p>
        </p:txBody>
      </p:sp>
      <p:pic>
        <p:nvPicPr>
          <p:cNvPr id="400" name="Google Shape;4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175" y="1297667"/>
            <a:ext cx="13224724" cy="7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8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9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9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9"/>
          <p:cNvSpPr/>
          <p:nvPr/>
        </p:nvSpPr>
        <p:spPr>
          <a:xfrm>
            <a:off x="4684222" y="239675"/>
            <a:ext cx="82359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</a:rPr>
              <a:t>Attention Enhanced </a:t>
            </a:r>
            <a:r>
              <a:rPr b="1" lang="en-US" sz="3300">
                <a:solidFill>
                  <a:schemeClr val="dk1"/>
                </a:solidFill>
              </a:rPr>
              <a:t>Quantum </a:t>
            </a:r>
            <a:r>
              <a:rPr b="1" lang="en-US" sz="3300">
                <a:solidFill>
                  <a:schemeClr val="dk1"/>
                </a:solidFill>
              </a:rPr>
              <a:t>PINNs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12" name="Google Shape;412;p49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413" name="Google Shape;4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975" y="1728950"/>
            <a:ext cx="14010674" cy="744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419" name="Google Shape;419;p50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0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0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0"/>
          <p:cNvSpPr/>
          <p:nvPr/>
        </p:nvSpPr>
        <p:spPr>
          <a:xfrm>
            <a:off x="6389919" y="208731"/>
            <a:ext cx="49092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</a:t>
            </a: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imulation Results</a:t>
            </a:r>
            <a:endParaRPr b="1" sz="6200"/>
          </a:p>
        </p:txBody>
      </p:sp>
      <p:pic>
        <p:nvPicPr>
          <p:cNvPr id="424" name="Google Shape;4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725" y="4484900"/>
            <a:ext cx="9437785" cy="39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550" y="1146912"/>
            <a:ext cx="11744898" cy="397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0"/>
          <p:cNvSpPr txBox="1"/>
          <p:nvPr/>
        </p:nvSpPr>
        <p:spPr>
          <a:xfrm>
            <a:off x="3855779" y="8464725"/>
            <a:ext cx="125658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Matrix Product States (QMPS), Tree Tensor Networks (QTTN),</a:t>
            </a:r>
            <a:br>
              <a:rPr lang="en-US" sz="2700">
                <a:solidFill>
                  <a:schemeClr val="dk1"/>
                </a:solidFill>
              </a:rPr>
            </a:br>
            <a:r>
              <a:rPr lang="en-US" sz="2700">
                <a:solidFill>
                  <a:schemeClr val="dk1"/>
                </a:solidFill>
              </a:rPr>
              <a:t> Multiscale Entanglement Renormalization Ansatz (QMERA)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1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1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1"/>
          <p:cNvSpPr/>
          <p:nvPr/>
        </p:nvSpPr>
        <p:spPr>
          <a:xfrm flipH="1">
            <a:off x="11964686" y="9173252"/>
            <a:ext cx="22416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1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1"/>
          <p:cNvSpPr/>
          <p:nvPr/>
        </p:nvSpPr>
        <p:spPr>
          <a:xfrm>
            <a:off x="161075" y="9560050"/>
            <a:ext cx="100452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00" lIns="135000" spcFirstLastPara="1" rIns="135000" wrap="square" tIns="67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US" sz="2400"/>
              <a:t>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https://pennylane.ai/</a:t>
            </a:r>
            <a:r>
              <a:rPr lang="en-US" sz="2400"/>
              <a:t>  </a:t>
            </a:r>
            <a:r>
              <a:rPr lang="en-US" sz="2400" u="sng">
                <a:solidFill>
                  <a:schemeClr val="hlink"/>
                </a:solidFill>
                <a:hlinkClick r:id="rId4"/>
              </a:rPr>
              <a:t>developer.nvidia.com</a:t>
            </a:r>
            <a:r>
              <a:rPr lang="en-US" sz="2400"/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1"/>
          <p:cNvSpPr/>
          <p:nvPr/>
        </p:nvSpPr>
        <p:spPr>
          <a:xfrm>
            <a:off x="6002350" y="243700"/>
            <a:ext cx="6030000" cy="831000"/>
          </a:xfrm>
          <a:prstGeom prst="rect">
            <a:avLst/>
          </a:prstGeom>
          <a:solidFill>
            <a:srgbClr val="E7E6E6"/>
          </a:solidFill>
          <a:ln cap="flat" cmpd="sng" w="95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Frameworks &amp; Resources</a:t>
            </a:r>
            <a:endParaRPr b="1" sz="6200"/>
          </a:p>
        </p:txBody>
      </p:sp>
      <p:pic>
        <p:nvPicPr>
          <p:cNvPr id="439" name="Google Shape;43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9951" y="5246348"/>
            <a:ext cx="4603026" cy="3412899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1"/>
          <p:cNvSpPr txBox="1"/>
          <p:nvPr/>
        </p:nvSpPr>
        <p:spPr>
          <a:xfrm>
            <a:off x="2512000" y="8753950"/>
            <a:ext cx="14320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Pennylane, Nvidia Modulus, DGX Quantum, IBM Qantm Credits 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441" name="Google Shape;441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8098" y="1371402"/>
            <a:ext cx="5147500" cy="357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1550" y="1261475"/>
            <a:ext cx="5752748" cy="369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98192" y="5149825"/>
            <a:ext cx="6419484" cy="34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2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2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2"/>
          <p:cNvSpPr/>
          <p:nvPr/>
        </p:nvSpPr>
        <p:spPr>
          <a:xfrm flipH="1">
            <a:off x="11964686" y="9173252"/>
            <a:ext cx="22416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2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2"/>
          <p:cNvSpPr/>
          <p:nvPr/>
        </p:nvSpPr>
        <p:spPr>
          <a:xfrm>
            <a:off x="6769200" y="243700"/>
            <a:ext cx="4749600" cy="831000"/>
          </a:xfrm>
          <a:prstGeom prst="rect">
            <a:avLst/>
          </a:prstGeom>
          <a:solidFill>
            <a:srgbClr val="E7E6E6"/>
          </a:solidFill>
          <a:ln cap="flat" cmpd="sng" w="95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400">
                <a:solidFill>
                  <a:schemeClr val="dk1"/>
                </a:solidFill>
              </a:rPr>
              <a:t> QC-HPC integration</a:t>
            </a:r>
            <a:endParaRPr sz="44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54" name="Google Shape;454;p52"/>
          <p:cNvSpPr txBox="1"/>
          <p:nvPr/>
        </p:nvSpPr>
        <p:spPr>
          <a:xfrm>
            <a:off x="134350" y="9545800"/>
            <a:ext cx="7206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Source: https://arxiv.org/html/2408.16159v1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455" name="Google Shape;4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3100" y="2257725"/>
            <a:ext cx="8280350" cy="62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250" y="2635299"/>
            <a:ext cx="8585554" cy="54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3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3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3"/>
          <p:cNvSpPr txBox="1"/>
          <p:nvPr/>
        </p:nvSpPr>
        <p:spPr>
          <a:xfrm>
            <a:off x="3201925" y="2227150"/>
            <a:ext cx="11649900" cy="6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Benchmark s</a:t>
            </a:r>
            <a:r>
              <a:rPr b="1" lang="en-US" sz="3700">
                <a:solidFill>
                  <a:schemeClr val="dk1"/>
                </a:solidFill>
              </a:rPr>
              <a:t>tudies with advanced AI models</a:t>
            </a:r>
            <a:br>
              <a:rPr b="1" lang="en-US" sz="3700">
                <a:solidFill>
                  <a:schemeClr val="dk1"/>
                </a:solidFill>
              </a:rPr>
            </a:br>
            <a:r>
              <a:rPr b="1" lang="en-US" sz="3700">
                <a:solidFill>
                  <a:schemeClr val="dk1"/>
                </a:solidFill>
              </a:rPr>
              <a:t>(Physics and Geometry Aware)</a:t>
            </a:r>
            <a:r>
              <a:rPr b="1" lang="en-US" sz="3700">
                <a:solidFill>
                  <a:schemeClr val="dk1"/>
                </a:solidFill>
              </a:rPr>
              <a:t> </a:t>
            </a:r>
            <a:endParaRPr b="1" sz="3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Hybrid approaches for Quantum advantage</a:t>
            </a:r>
            <a:endParaRPr b="1" sz="3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b="1" lang="en-US" sz="3700">
                <a:solidFill>
                  <a:schemeClr val="dk1"/>
                </a:solidFill>
              </a:rPr>
              <a:t>Collaborations with academia and industries   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 </a:t>
            </a:r>
            <a:endParaRPr b="1" sz="4300">
              <a:solidFill>
                <a:schemeClr val="dk1"/>
              </a:solidFill>
            </a:endParaRPr>
          </a:p>
        </p:txBody>
      </p:sp>
      <p:sp>
        <p:nvSpPr>
          <p:cNvPr id="467" name="Google Shape;467;p53"/>
          <p:cNvSpPr txBox="1"/>
          <p:nvPr/>
        </p:nvSpPr>
        <p:spPr>
          <a:xfrm>
            <a:off x="6994528" y="230375"/>
            <a:ext cx="3210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Outlook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4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4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54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4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4"/>
          <p:cNvSpPr txBox="1"/>
          <p:nvPr/>
        </p:nvSpPr>
        <p:spPr>
          <a:xfrm>
            <a:off x="2219200" y="1415050"/>
            <a:ext cx="12919500" cy="7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Q</a:t>
            </a:r>
            <a:r>
              <a:rPr b="1" lang="en-US" sz="2000">
                <a:solidFill>
                  <a:schemeClr val="dk1"/>
                </a:solidFill>
              </a:rPr>
              <a:t>uantum and Physics-Informed Neural Networks</a:t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Afrah Farea, Saiful Khan, &amp; Mustafa Serdar Celebi. (2025). </a:t>
            </a:r>
            <a:r>
              <a:rPr b="1" i="1" lang="en-US">
                <a:solidFill>
                  <a:schemeClr val="dk1"/>
                </a:solidFill>
              </a:rPr>
              <a:t>QCPINN: Quantum-Classical Physics-Informed Neural Networks for Solving PDEs.</a:t>
            </a:r>
            <a:r>
              <a:rPr b="1" lang="en-US">
                <a:solidFill>
                  <a:schemeClr val="dk1"/>
                </a:solidFill>
              </a:rPr>
              <a:t> arXiv:2503.16678 [quant-ph].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4"/>
              </a:rPr>
              <a:t>https://arxiv.org/abs/2503.16678</a:t>
            </a:r>
            <a:br>
              <a:rPr b="1" lang="en-US" u="sng">
                <a:solidFill>
                  <a:schemeClr val="hlink"/>
                </a:solidFill>
                <a:hlinkClick r:id="rId5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-US">
                <a:solidFill>
                  <a:schemeClr val="dk1"/>
                </a:solidFill>
              </a:rPr>
              <a:t>Hybrid Quantum PINNs for Computational Fluid Dynamics.</a:t>
            </a:r>
            <a:r>
              <a:rPr b="1" lang="en-US">
                <a:solidFill>
                  <a:schemeClr val="dk1"/>
                </a:solidFill>
              </a:rPr>
              <a:t> (2025). IOP Science.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7"/>
              </a:rPr>
              <a:t>https://doi.org/10.1088/2632-2153/ad43b2</a:t>
            </a:r>
            <a:br>
              <a:rPr b="1" lang="en-US" u="sng">
                <a:solidFill>
                  <a:schemeClr val="hlink"/>
                </a:solidFill>
                <a:hlinkClick r:id="rId8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-US">
                <a:solidFill>
                  <a:schemeClr val="dk1"/>
                </a:solidFill>
              </a:rPr>
              <a:t>Quantum Physics-Informed Machine Learning for Multiscale Simulations.</a:t>
            </a:r>
            <a:r>
              <a:rPr b="1" lang="en-US">
                <a:solidFill>
                  <a:schemeClr val="dk1"/>
                </a:solidFill>
              </a:rPr>
              <a:t> (2024). arXiv:2403.08954 [quant-ph].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10"/>
              </a:rPr>
              <a:t>https://arxiv.org/abs/2403.08954</a:t>
            </a:r>
            <a:br>
              <a:rPr b="1" lang="en-US" u="sng">
                <a:solidFill>
                  <a:schemeClr val="hlink"/>
                </a:solidFill>
                <a:hlinkClick r:id="rId11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-US">
                <a:solidFill>
                  <a:schemeClr val="dk1"/>
                </a:solidFill>
              </a:rPr>
              <a:t>PINNSFORMER: A Transformer-Based Framework for Physics-Informed Neural Networks.</a:t>
            </a:r>
            <a:r>
              <a:rPr b="1" lang="en-US">
                <a:solidFill>
                  <a:schemeClr val="dk1"/>
                </a:solidFill>
              </a:rPr>
              <a:t> (2023). arXiv:2307.11833v3 [cs.LG].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Pengpeng Xiao, Muqing Zheng, Anran Jiao, Xiu Yang, &amp; Lu Lu. (2024). </a:t>
            </a:r>
            <a:r>
              <a:rPr b="1" i="1" lang="en-US">
                <a:solidFill>
                  <a:schemeClr val="dk1"/>
                </a:solidFill>
              </a:rPr>
              <a:t>Quantum DeepONet: Neural Operators Accelerated by Quantum Computing.</a:t>
            </a:r>
            <a:r>
              <a:rPr b="1" lang="en-US">
                <a:solidFill>
                  <a:schemeClr val="dk1"/>
                </a:solidFill>
              </a:rPr>
              <a:t> [Manuscript].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Siddhant Dutta, Nouhaila Innan, Sadok Ben Yahia, &amp; Muhammad Shafique. (2024). </a:t>
            </a:r>
            <a:r>
              <a:rPr b="1" i="1" lang="en-US">
                <a:solidFill>
                  <a:schemeClr val="dk1"/>
                </a:solidFill>
              </a:rPr>
              <a:t>AQ-PINNs: Attention-Enhanced Quantum Physics-Informed Neural Networks for Carbon-Efficient Climate Modeling.</a:t>
            </a:r>
            <a:r>
              <a:rPr b="1" lang="en-US">
                <a:solidFill>
                  <a:schemeClr val="dk1"/>
                </a:solidFill>
              </a:rPr>
              <a:t> arXiv:2409.01626v1 [cs.LG].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Physics-Informed Neural Networks in Crystal Growth Simulations</a:t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D. Kolberg, C. Anders, &amp; S. Reke. (2023). </a:t>
            </a:r>
            <a:r>
              <a:rPr b="1" i="1" lang="en-US">
                <a:solidFill>
                  <a:schemeClr val="dk1"/>
                </a:solidFill>
              </a:rPr>
              <a:t>Fast Prediction of Transport Structures in the Melt by Physics-Informed Neural Networks during ‘VMCz’ Crystal Growth of Silicon.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b="1" i="1" lang="en-US">
                <a:solidFill>
                  <a:schemeClr val="dk1"/>
                </a:solidFill>
              </a:rPr>
              <a:t>Journal of the Institute of Metals</a:t>
            </a:r>
            <a:r>
              <a:rPr b="1" lang="en-US">
                <a:solidFill>
                  <a:schemeClr val="dk1"/>
                </a:solidFill>
              </a:rPr>
              <a:t>,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13"/>
              </a:rPr>
              <a:t>https://doi.org/10.1080/00219592.2023.2236656</a:t>
            </a:r>
            <a:br>
              <a:rPr b="1" lang="en-US" u="sng">
                <a:solidFill>
                  <a:schemeClr val="hlink"/>
                </a:solidFill>
                <a:hlinkClick r:id="rId14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J. Ling, Y. Zhang, &amp; D. Chen. (2023). </a:t>
            </a:r>
            <a:r>
              <a:rPr b="1" i="1" lang="en-US">
                <a:solidFill>
                  <a:schemeClr val="dk1"/>
                </a:solidFill>
              </a:rPr>
              <a:t>Simulation of Thermal‑Fluid Coupling in Silicon Single Crystal Growth Based on Gradient Normalized Physics‑Informed Neural Network.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b="1" i="1" lang="en-US">
                <a:solidFill>
                  <a:schemeClr val="dk1"/>
                </a:solidFill>
              </a:rPr>
              <a:t>Physics of Fluids.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16"/>
              </a:rPr>
              <a:t>https://doi.org/10.1063/5.0123811</a:t>
            </a:r>
            <a:br>
              <a:rPr b="1" lang="en-US" u="sng">
                <a:solidFill>
                  <a:schemeClr val="hlink"/>
                </a:solidFill>
                <a:hlinkClick r:id="rId17"/>
              </a:rPr>
            </a:br>
            <a:r>
              <a:rPr b="1" lang="en-US">
                <a:solidFill>
                  <a:schemeClr val="dk1"/>
                </a:solidFill>
              </a:rPr>
              <a:t> (Code repository: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19"/>
              </a:rPr>
              <a:t>https://github.com/callmedrcom/SIPINN</a:t>
            </a:r>
            <a:r>
              <a:rPr b="1" lang="en-US">
                <a:solidFill>
                  <a:schemeClr val="dk1"/>
                </a:solidFill>
              </a:rPr>
              <a:t>)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Z. Wang, F. Chen, &amp; M. Li. (2024). </a:t>
            </a:r>
            <a:r>
              <a:rPr b="1" i="1" lang="en-US">
                <a:solidFill>
                  <a:schemeClr val="dk1"/>
                </a:solidFill>
              </a:rPr>
              <a:t>RF-PINNs: Reactive Flow Physics-Informed Neural Networks for Field Reconstruction of Laminar and Turbulent Flames.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b="1" i="1" lang="en-US">
                <a:solidFill>
                  <a:schemeClr val="dk1"/>
                </a:solidFill>
              </a:rPr>
              <a:t>Journal of Computational Physics</a:t>
            </a:r>
            <a:r>
              <a:rPr b="1" lang="en-US">
                <a:solidFill>
                  <a:schemeClr val="dk1"/>
                </a:solidFill>
              </a:rPr>
              <a:t>, 113698.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21"/>
              </a:rPr>
              <a:t>https://doi.org/10.1016/j.jcp.2024.113698</a:t>
            </a:r>
            <a:br>
              <a:rPr b="1" lang="en-US" u="sng">
                <a:solidFill>
                  <a:schemeClr val="hlink"/>
                </a:solidFill>
                <a:hlinkClick r:id="rId22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Y. Zhao, H. Liu, &amp; J. Xu. (2025). </a:t>
            </a:r>
            <a:r>
              <a:rPr b="1" i="1" lang="en-US">
                <a:solidFill>
                  <a:schemeClr val="dk1"/>
                </a:solidFill>
              </a:rPr>
              <a:t>Research on the Thermal‑Fluid Coupling in the Growth Process of Czochralski Silicon Single Crystals Based on an Improved Physics‑Informed Neural Network.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b="1" i="1" lang="en-US">
                <a:solidFill>
                  <a:schemeClr val="dk1"/>
                </a:solidFill>
              </a:rPr>
              <a:t>AIP Advances, 15</a:t>
            </a:r>
            <a:r>
              <a:rPr b="1" lang="en-US">
                <a:solidFill>
                  <a:schemeClr val="dk1"/>
                </a:solidFill>
              </a:rPr>
              <a:t>(10), 105202.</a:t>
            </a:r>
            <a:r>
              <a:rPr b="1" lang="en-US">
                <a:solidFill>
                  <a:schemeClr val="dk1"/>
                </a:solidFill>
                <a:uFill>
                  <a:noFill/>
                </a:uFill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u="sng">
                <a:solidFill>
                  <a:schemeClr val="hlink"/>
                </a:solidFill>
                <a:hlinkClick r:id="rId24"/>
              </a:rPr>
              <a:t>https://doi.org/10.1063/5.0271778</a:t>
            </a:r>
            <a:endParaRPr b="1" sz="4600">
              <a:solidFill>
                <a:schemeClr val="dk1"/>
              </a:solidFill>
            </a:endParaRPr>
          </a:p>
        </p:txBody>
      </p:sp>
      <p:sp>
        <p:nvSpPr>
          <p:cNvPr id="478" name="Google Shape;478;p54"/>
          <p:cNvSpPr txBox="1"/>
          <p:nvPr/>
        </p:nvSpPr>
        <p:spPr>
          <a:xfrm>
            <a:off x="7073647" y="298775"/>
            <a:ext cx="4332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References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5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5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5"/>
          <p:cNvSpPr/>
          <p:nvPr/>
        </p:nvSpPr>
        <p:spPr>
          <a:xfrm flipH="1">
            <a:off x="11964686" y="9173252"/>
            <a:ext cx="22416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5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5"/>
          <p:cNvSpPr txBox="1"/>
          <p:nvPr/>
        </p:nvSpPr>
        <p:spPr>
          <a:xfrm>
            <a:off x="6587275" y="2365650"/>
            <a:ext cx="4654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Thank You 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490" name="Google Shape;4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1275" y="5143499"/>
            <a:ext cx="3520775" cy="35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5"/>
          <p:cNvSpPr txBox="1"/>
          <p:nvPr/>
        </p:nvSpPr>
        <p:spPr>
          <a:xfrm>
            <a:off x="2506100" y="4952163"/>
            <a:ext cx="10467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Name: A Seshaditya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Email: aditya@quasi.digital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Websites: </a:t>
            </a:r>
            <a:r>
              <a:rPr b="1" lang="en-US" sz="3200" u="sng">
                <a:solidFill>
                  <a:schemeClr val="hlink"/>
                </a:solidFill>
                <a:hlinkClick r:id="rId4"/>
              </a:rPr>
              <a:t>https://quasi.digital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                  https://github.com/adytiaa/quasi.ai</a:t>
            </a:r>
            <a:br>
              <a:rPr b="1" lang="en-US" sz="3200">
                <a:solidFill>
                  <a:schemeClr val="dk1"/>
                </a:solidFill>
              </a:rPr>
            </a:br>
            <a:r>
              <a:rPr b="1" lang="en-US" sz="3200">
                <a:solidFill>
                  <a:schemeClr val="dk1"/>
                </a:solidFill>
              </a:rPr>
              <a:t>                  https://adytiaa.github.io/quasi.ai/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6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6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6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6"/>
          <p:cNvSpPr/>
          <p:nvPr/>
        </p:nvSpPr>
        <p:spPr>
          <a:xfrm flipH="1">
            <a:off x="11964686" y="9173252"/>
            <a:ext cx="22416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6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6"/>
          <p:cNvSpPr/>
          <p:nvPr/>
        </p:nvSpPr>
        <p:spPr>
          <a:xfrm>
            <a:off x="5781648" y="243700"/>
            <a:ext cx="6665400" cy="831000"/>
          </a:xfrm>
          <a:prstGeom prst="rect">
            <a:avLst/>
          </a:prstGeom>
          <a:solidFill>
            <a:srgbClr val="E7E6E6"/>
          </a:solidFill>
          <a:ln cap="flat" cmpd="sng" w="95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Classical Benchmarks</a:t>
            </a:r>
            <a:endParaRPr sz="44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03" name="Google Shape;503;p56"/>
          <p:cNvSpPr txBox="1"/>
          <p:nvPr/>
        </p:nvSpPr>
        <p:spPr>
          <a:xfrm>
            <a:off x="161150" y="9679750"/>
            <a:ext cx="7473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Source: https://arxiv.org/pdf/2502.09692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504" name="Google Shape;50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350" y="3022000"/>
            <a:ext cx="14827298" cy="572795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6"/>
          <p:cNvSpPr txBox="1"/>
          <p:nvPr/>
        </p:nvSpPr>
        <p:spPr>
          <a:xfrm>
            <a:off x="4430000" y="1434750"/>
            <a:ext cx="9722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PINNs, Neural Operators, NeuralDEM, Universal Physics Transformer Models 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511" name="Google Shape;511;p57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7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7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7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7"/>
          <p:cNvSpPr/>
          <p:nvPr/>
        </p:nvSpPr>
        <p:spPr>
          <a:xfrm>
            <a:off x="7957400" y="239688"/>
            <a:ext cx="26478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Overview</a:t>
            </a:r>
            <a:endParaRPr b="1" sz="6200"/>
          </a:p>
        </p:txBody>
      </p:sp>
      <p:sp>
        <p:nvSpPr>
          <p:cNvPr id="517" name="Google Shape;517;p57"/>
          <p:cNvSpPr txBox="1"/>
          <p:nvPr/>
        </p:nvSpPr>
        <p:spPr>
          <a:xfrm>
            <a:off x="5046725" y="8719225"/>
            <a:ext cx="9561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Q</a:t>
            </a:r>
            <a:r>
              <a:rPr b="1" lang="en-US" sz="3400">
                <a:solidFill>
                  <a:schemeClr val="dk1"/>
                </a:solidFill>
              </a:rPr>
              <a:t>u</a:t>
            </a:r>
            <a:r>
              <a:rPr b="1" lang="en-US" sz="3600">
                <a:solidFill>
                  <a:schemeClr val="dk1"/>
                </a:solidFill>
              </a:rPr>
              <a:t>ant</a:t>
            </a:r>
            <a:r>
              <a:rPr b="1" lang="en-US" sz="3400">
                <a:solidFill>
                  <a:schemeClr val="dk1"/>
                </a:solidFill>
              </a:rPr>
              <a:t>u</a:t>
            </a:r>
            <a:r>
              <a:rPr b="1" lang="en-US" sz="3600">
                <a:solidFill>
                  <a:schemeClr val="dk1"/>
                </a:solidFill>
              </a:rPr>
              <a:t>m advantage to </a:t>
            </a:r>
            <a:r>
              <a:rPr b="1" lang="en-US" sz="3600">
                <a:solidFill>
                  <a:schemeClr val="dk1"/>
                </a:solidFill>
              </a:rPr>
              <a:t>Classical</a:t>
            </a:r>
            <a:r>
              <a:rPr b="1" lang="en-US" sz="3600">
                <a:solidFill>
                  <a:schemeClr val="dk1"/>
                </a:solidFill>
              </a:rPr>
              <a:t> PINNs 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518" name="Google Shape;5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625" y="1369110"/>
            <a:ext cx="13492751" cy="7220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8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8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8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8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8"/>
          <p:cNvSpPr txBox="1"/>
          <p:nvPr/>
        </p:nvSpPr>
        <p:spPr>
          <a:xfrm>
            <a:off x="3631850" y="2071675"/>
            <a:ext cx="13513200" cy="6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Perform Parameter Sensitivity Analysis 	</a:t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Temperature gradients</a:t>
            </a:r>
            <a:endParaRPr b="1"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Precursor pressure concentrations</a:t>
            </a:r>
            <a:endParaRPr b="1"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Flow rates</a:t>
            </a:r>
            <a:endParaRPr b="1"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Substrate properties</a:t>
            </a:r>
            <a:endParaRPr b="1" sz="3500">
              <a:solidFill>
                <a:schemeClr val="dk1"/>
              </a:solidFill>
            </a:endParaRPr>
          </a:p>
        </p:txBody>
      </p:sp>
      <p:sp>
        <p:nvSpPr>
          <p:cNvPr id="529" name="Google Shape;529;p58"/>
          <p:cNvSpPr txBox="1"/>
          <p:nvPr/>
        </p:nvSpPr>
        <p:spPr>
          <a:xfrm>
            <a:off x="6294674" y="432725"/>
            <a:ext cx="7591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Role of PINNs 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9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9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9"/>
          <p:cNvSpPr txBox="1"/>
          <p:nvPr/>
        </p:nvSpPr>
        <p:spPr>
          <a:xfrm>
            <a:off x="2506100" y="2155499"/>
            <a:ext cx="139935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PINN methodology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-431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b="1" lang="en-US" sz="3200">
                <a:solidFill>
                  <a:schemeClr val="dk1"/>
                </a:solidFill>
              </a:rPr>
              <a:t>Modified Loss Function</a:t>
            </a:r>
            <a:r>
              <a:rPr lang="en-US" sz="3200">
                <a:solidFill>
                  <a:schemeClr val="dk1"/>
                </a:solidFill>
              </a:rPr>
              <a:t>:</a:t>
            </a:r>
            <a:br>
              <a:rPr lang="en-US" sz="32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 L_total = L_PDE + L_BC + L_IC + λ L_SAL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</a:rPr>
              <a:t>$L_{PDE}$ is the physics-informed loss</a:t>
            </a:r>
            <a:endParaRPr sz="3200">
              <a:solidFill>
                <a:schemeClr val="dk1"/>
              </a:solidFill>
            </a:endParaRPr>
          </a:p>
          <a:p>
            <a:pPr indent="-431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</a:rPr>
              <a:t>$L_{BC}$ and $L_{IC}$ are boundary and initial condition losses</a:t>
            </a:r>
            <a:endParaRPr sz="3200">
              <a:solidFill>
                <a:schemeClr val="dk1"/>
              </a:solidFill>
            </a:endParaRPr>
          </a:p>
          <a:p>
            <a:pPr indent="-431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</a:rPr>
              <a:t>$L_{SA}$ is the sensitivity analysis term</a:t>
            </a:r>
            <a:endParaRPr sz="3200">
              <a:solidFill>
                <a:schemeClr val="dk1"/>
              </a:solidFill>
            </a:endParaRPr>
          </a:p>
          <a:p>
            <a:pPr indent="-431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</a:rPr>
              <a:t> λ is a weighting factor</a:t>
            </a:r>
            <a:endParaRPr sz="3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        Computation</a:t>
            </a:r>
            <a:r>
              <a:rPr lang="en-US" sz="3200">
                <a:solidFill>
                  <a:schemeClr val="dk1"/>
                </a:solidFill>
              </a:rPr>
              <a:t> done with automated differentiation </a:t>
            </a:r>
            <a:endParaRPr b="1" sz="3500">
              <a:solidFill>
                <a:schemeClr val="dk1"/>
              </a:solidFill>
            </a:endParaRPr>
          </a:p>
        </p:txBody>
      </p:sp>
      <p:sp>
        <p:nvSpPr>
          <p:cNvPr id="540" name="Google Shape;540;p59"/>
          <p:cNvSpPr txBox="1"/>
          <p:nvPr/>
        </p:nvSpPr>
        <p:spPr>
          <a:xfrm>
            <a:off x="6294674" y="432725"/>
            <a:ext cx="7591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Role of PINNs 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0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0"/>
          <p:cNvSpPr txBox="1"/>
          <p:nvPr/>
        </p:nvSpPr>
        <p:spPr>
          <a:xfrm>
            <a:off x="1931850" y="2310850"/>
            <a:ext cx="14424300" cy="6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50" spcFirstLastPara="1" rIns="91450" wrap="square" tIns="45700">
            <a:sp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Combining Quantum with Physics-Inspired AI models for accelerating  Computational Fluid Dynamic (CFD) Simulations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Addressing the problems associated with CFD 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● High Computational Cost 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● Expensive High Fidelity Simulations </a:t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49" name="Google Shape;549;p60"/>
          <p:cNvSpPr txBox="1"/>
          <p:nvPr/>
        </p:nvSpPr>
        <p:spPr>
          <a:xfrm>
            <a:off x="6846717" y="3"/>
            <a:ext cx="42528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</a:rPr>
              <a:t>Overview</a:t>
            </a:r>
            <a:endParaRPr b="1" sz="5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1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1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1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61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61"/>
          <p:cNvSpPr txBox="1"/>
          <p:nvPr/>
        </p:nvSpPr>
        <p:spPr>
          <a:xfrm>
            <a:off x="2793250" y="8594225"/>
            <a:ext cx="1399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Higher Accuracy &amp; Multi-Physics Capability with Less Data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560" name="Google Shape;560;p61"/>
          <p:cNvSpPr txBox="1"/>
          <p:nvPr/>
        </p:nvSpPr>
        <p:spPr>
          <a:xfrm>
            <a:off x="5244000" y="432725"/>
            <a:ext cx="807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PINNs: combining NN with Physics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561" name="Google Shape;5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012" y="1317075"/>
            <a:ext cx="11957973" cy="68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2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2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2"/>
          <p:cNvSpPr txBox="1"/>
          <p:nvPr/>
        </p:nvSpPr>
        <p:spPr>
          <a:xfrm>
            <a:off x="2793250" y="8594225"/>
            <a:ext cx="1399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Higher Accuracy &amp; Multi-Physics Capability with Less Data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570" name="Google Shape;570;p62"/>
          <p:cNvSpPr txBox="1"/>
          <p:nvPr/>
        </p:nvSpPr>
        <p:spPr>
          <a:xfrm>
            <a:off x="5217200" y="285738"/>
            <a:ext cx="807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PINNs: combining NN with Physics 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571" name="Google Shape;57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212" y="1724425"/>
            <a:ext cx="11957973" cy="68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577" name="Google Shape;577;p6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3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3"/>
          <p:cNvSpPr/>
          <p:nvPr/>
        </p:nvSpPr>
        <p:spPr>
          <a:xfrm>
            <a:off x="6345125" y="432725"/>
            <a:ext cx="59778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Unified PDE Solver (UPS)</a:t>
            </a:r>
            <a:endParaRPr b="1" sz="6200"/>
          </a:p>
        </p:txBody>
      </p:sp>
      <p:sp>
        <p:nvSpPr>
          <p:cNvPr id="582" name="Google Shape;582;p63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583" name="Google Shape;5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075" y="1910725"/>
            <a:ext cx="13903525" cy="729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4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4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4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64"/>
          <p:cNvSpPr/>
          <p:nvPr/>
        </p:nvSpPr>
        <p:spPr>
          <a:xfrm>
            <a:off x="7121875" y="295788"/>
            <a:ext cx="3244500" cy="71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Introduction</a:t>
            </a: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endParaRPr b="1" sz="6200"/>
          </a:p>
        </p:txBody>
      </p:sp>
      <p:sp>
        <p:nvSpPr>
          <p:cNvPr id="592" name="Google Shape;592;p64"/>
          <p:cNvSpPr txBox="1"/>
          <p:nvPr/>
        </p:nvSpPr>
        <p:spPr>
          <a:xfrm>
            <a:off x="2450888" y="5328825"/>
            <a:ext cx="241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500" u="none" cap="none" strike="noStrike">
                <a:solidFill>
                  <a:srgbClr val="2C368A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</a:t>
            </a:r>
            <a:r>
              <a:rPr lang="en-US" sz="2500">
                <a:solidFill>
                  <a:srgbClr val="2C368A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Seshaditya</a:t>
            </a:r>
            <a:r>
              <a:rPr b="0" i="0" lang="en-US" sz="2500" u="none" cap="none" strike="noStrike">
                <a:solidFill>
                  <a:srgbClr val="2C368A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endParaRPr b="0" i="0" sz="2500" u="none" cap="none" strike="noStrike">
              <a:solidFill>
                <a:srgbClr val="2C368A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593" name="Google Shape;59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7625" y="1944012"/>
            <a:ext cx="3400350" cy="324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chnical University of Berlin - Wikipedia" id="594" name="Google Shape;59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0900" y="5947933"/>
            <a:ext cx="1368900" cy="96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0478" y="6105025"/>
            <a:ext cx="650250" cy="65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4"/>
          <p:cNvSpPr txBox="1"/>
          <p:nvPr/>
        </p:nvSpPr>
        <p:spPr>
          <a:xfrm>
            <a:off x="6273125" y="1660775"/>
            <a:ext cx="10562700" cy="8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Academic </a:t>
            </a:r>
            <a:r>
              <a:rPr b="1" lang="en-US" sz="3700">
                <a:solidFill>
                  <a:schemeClr val="dk1"/>
                </a:solidFill>
              </a:rPr>
              <a:t>Experience: </a:t>
            </a:r>
            <a:br>
              <a:rPr b="1" lang="en-US" sz="3700">
                <a:solidFill>
                  <a:schemeClr val="dk1"/>
                </a:solidFill>
              </a:rPr>
            </a:br>
            <a:r>
              <a:rPr b="1" lang="en-US" sz="3400">
                <a:solidFill>
                  <a:schemeClr val="dk1"/>
                </a:solidFill>
              </a:rPr>
              <a:t>Doctoral Thesis</a:t>
            </a:r>
            <a:r>
              <a:rPr b="1" lang="en-US" sz="3400">
                <a:solidFill>
                  <a:schemeClr val="dk1"/>
                </a:solidFill>
              </a:rPr>
              <a:t> in Density </a:t>
            </a:r>
            <a:r>
              <a:rPr b="1" lang="en-US" sz="3400">
                <a:solidFill>
                  <a:schemeClr val="dk1"/>
                </a:solidFill>
              </a:rPr>
              <a:t>Functional </a:t>
            </a:r>
            <a:r>
              <a:rPr b="1" lang="en-US" sz="3400">
                <a:solidFill>
                  <a:schemeClr val="dk1"/>
                </a:solidFill>
              </a:rPr>
              <a:t>Theory </a:t>
            </a:r>
            <a:endParaRPr b="1"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</a:rPr>
              <a:t>(TU Berlin)</a:t>
            </a:r>
            <a:endParaRPr b="1"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</a:rPr>
              <a:t>Dimensionality Behaviour of Kinetic Functionals (FU Berlin) </a:t>
            </a:r>
            <a:endParaRPr b="1"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Industry</a:t>
            </a:r>
            <a:r>
              <a:rPr b="1" lang="en-US" sz="3700">
                <a:solidFill>
                  <a:schemeClr val="dk1"/>
                </a:solidFill>
              </a:rPr>
              <a:t> </a:t>
            </a:r>
            <a:r>
              <a:rPr b="1" lang="en-US" sz="3700">
                <a:solidFill>
                  <a:schemeClr val="dk1"/>
                </a:solidFill>
              </a:rPr>
              <a:t>Experience: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Data Science and Machine Learning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BMBF Projects KILIDAR, KIKOSA    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(Anc</a:t>
            </a:r>
            <a:r>
              <a:rPr b="1" lang="en-US" sz="3400">
                <a:solidFill>
                  <a:schemeClr val="dk1"/>
                </a:solidFill>
              </a:rPr>
              <a:t>u</a:t>
            </a:r>
            <a:r>
              <a:rPr b="1" lang="en-US" sz="3700">
                <a:solidFill>
                  <a:schemeClr val="dk1"/>
                </a:solidFill>
              </a:rPr>
              <a:t>d IT)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 </a:t>
            </a:r>
            <a:endParaRPr b="1" sz="4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5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5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5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5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5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5"/>
          <p:cNvSpPr/>
          <p:nvPr/>
        </p:nvSpPr>
        <p:spPr>
          <a:xfrm>
            <a:off x="3991475" y="432725"/>
            <a:ext cx="93774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Physics Informed Quantum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608" name="Google Shape;608;p65"/>
          <p:cNvSpPr txBox="1"/>
          <p:nvPr/>
        </p:nvSpPr>
        <p:spPr>
          <a:xfrm>
            <a:off x="214575" y="9558875"/>
            <a:ext cx="68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https://doi.org/10.1063/5.0226232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609" name="Google Shape;609;p65"/>
          <p:cNvSpPr txBox="1"/>
          <p:nvPr/>
        </p:nvSpPr>
        <p:spPr>
          <a:xfrm>
            <a:off x="0" y="0"/>
            <a:ext cx="17814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610" name="Google Shape;61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325" y="2560850"/>
            <a:ext cx="13456627" cy="6257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6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6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6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6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6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6"/>
          <p:cNvSpPr/>
          <p:nvPr/>
        </p:nvSpPr>
        <p:spPr>
          <a:xfrm>
            <a:off x="6846400" y="239675"/>
            <a:ext cx="50307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</a:rPr>
              <a:t>Quantum DeepONets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622" name="Google Shape;622;p66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https://arxiv.org/pdf/2409.15683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623" name="Google Shape;623;p66"/>
          <p:cNvSpPr txBox="1"/>
          <p:nvPr/>
        </p:nvSpPr>
        <p:spPr>
          <a:xfrm>
            <a:off x="0" y="0"/>
            <a:ext cx="17814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624" name="Google Shape;624;p66"/>
          <p:cNvSpPr txBox="1"/>
          <p:nvPr/>
        </p:nvSpPr>
        <p:spPr>
          <a:xfrm>
            <a:off x="2842300" y="8656113"/>
            <a:ext cx="13038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Variational Quantum Circuit (VQC) with focus on Geometry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625" name="Google Shape;62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224" y="984426"/>
            <a:ext cx="10203747" cy="73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7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7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67"/>
          <p:cNvSpPr txBox="1"/>
          <p:nvPr/>
        </p:nvSpPr>
        <p:spPr>
          <a:xfrm>
            <a:off x="3566100" y="205353"/>
            <a:ext cx="111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GAOT: Geometry Aware Operator Transformers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sp>
        <p:nvSpPr>
          <p:cNvPr id="634" name="Google Shape;634;p67"/>
          <p:cNvSpPr txBox="1"/>
          <p:nvPr/>
        </p:nvSpPr>
        <p:spPr>
          <a:xfrm>
            <a:off x="214300" y="9679500"/>
            <a:ext cx="68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arXiv:2505.18781v2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635" name="Google Shape;63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975" y="1610312"/>
            <a:ext cx="14721900" cy="70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8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8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8"/>
          <p:cNvSpPr txBox="1"/>
          <p:nvPr/>
        </p:nvSpPr>
        <p:spPr>
          <a:xfrm>
            <a:off x="3566100" y="205353"/>
            <a:ext cx="111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GAOT: Geometry Aware Operator Transformers</a:t>
            </a:r>
            <a:endParaRPr b="1" sz="36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  <p:pic>
        <p:nvPicPr>
          <p:cNvPr id="644" name="Google Shape;64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275" y="1158275"/>
            <a:ext cx="14163651" cy="79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68"/>
          <p:cNvSpPr txBox="1"/>
          <p:nvPr/>
        </p:nvSpPr>
        <p:spPr>
          <a:xfrm>
            <a:off x="214300" y="9679500"/>
            <a:ext cx="68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arXiv:2505.18781v2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9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9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6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69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6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69"/>
          <p:cNvSpPr/>
          <p:nvPr/>
        </p:nvSpPr>
        <p:spPr>
          <a:xfrm>
            <a:off x="3775950" y="432725"/>
            <a:ext cx="107361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Hybrid 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657" name="Google Shape;657;p69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658" name="Google Shape;658;p69"/>
          <p:cNvSpPr txBox="1"/>
          <p:nvPr/>
        </p:nvSpPr>
        <p:spPr>
          <a:xfrm>
            <a:off x="0" y="0"/>
            <a:ext cx="17814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659" name="Google Shape;659;p69"/>
          <p:cNvSpPr txBox="1"/>
          <p:nvPr/>
        </p:nvSpPr>
        <p:spPr>
          <a:xfrm>
            <a:off x="2915900" y="8546950"/>
            <a:ext cx="13038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Variational quantum circuit (VQC) with focus on Geometry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660" name="Google Shape;66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488" y="1416113"/>
            <a:ext cx="10858948" cy="697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0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0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70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7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70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70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70"/>
          <p:cNvSpPr/>
          <p:nvPr/>
        </p:nvSpPr>
        <p:spPr>
          <a:xfrm>
            <a:off x="3990263" y="239688"/>
            <a:ext cx="93774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Physics Informed Quantum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672" name="Google Shape;672;p70"/>
          <p:cNvSpPr txBox="1"/>
          <p:nvPr/>
        </p:nvSpPr>
        <p:spPr>
          <a:xfrm>
            <a:off x="29467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https://doi.org/10.1063/5.0226232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673" name="Google Shape;673;p70"/>
          <p:cNvSpPr txBox="1"/>
          <p:nvPr/>
        </p:nvSpPr>
        <p:spPr>
          <a:xfrm>
            <a:off x="0" y="0"/>
            <a:ext cx="17814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674" name="Google Shape;67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100" y="2166950"/>
            <a:ext cx="13914225" cy="664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1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1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1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1"/>
          <p:cNvSpPr/>
          <p:nvPr/>
        </p:nvSpPr>
        <p:spPr>
          <a:xfrm flipH="1">
            <a:off x="11964386" y="9173252"/>
            <a:ext cx="2241900" cy="11136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71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71"/>
          <p:cNvSpPr/>
          <p:nvPr/>
        </p:nvSpPr>
        <p:spPr>
          <a:xfrm>
            <a:off x="3702897" y="239688"/>
            <a:ext cx="96114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</a:rPr>
              <a:t>Advanced Quantum PINNs-Attention Enhanced 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685" name="Google Shape;685;p71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686" name="Google Shape;686;p71"/>
          <p:cNvSpPr txBox="1"/>
          <p:nvPr/>
        </p:nvSpPr>
        <p:spPr>
          <a:xfrm>
            <a:off x="0" y="0"/>
            <a:ext cx="17814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687" name="Google Shape;68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975" y="1728950"/>
            <a:ext cx="14010674" cy="744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693" name="Google Shape;693;p72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72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7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2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72"/>
          <p:cNvSpPr/>
          <p:nvPr/>
        </p:nvSpPr>
        <p:spPr>
          <a:xfrm>
            <a:off x="6907700" y="239675"/>
            <a:ext cx="49509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Simulations Results</a:t>
            </a:r>
            <a:endParaRPr b="1" sz="6200"/>
          </a:p>
        </p:txBody>
      </p:sp>
      <p:pic>
        <p:nvPicPr>
          <p:cNvPr id="698" name="Google Shape;69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737" y="1548987"/>
            <a:ext cx="13986426" cy="76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2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https://doi.org/10.1063/5.0226232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3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7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73"/>
          <p:cNvSpPr/>
          <p:nvPr/>
        </p:nvSpPr>
        <p:spPr>
          <a:xfrm>
            <a:off x="4233550" y="239688"/>
            <a:ext cx="94497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709" name="Google Shape;709;p73"/>
          <p:cNvSpPr txBox="1"/>
          <p:nvPr/>
        </p:nvSpPr>
        <p:spPr>
          <a:xfrm>
            <a:off x="161150" y="9534950"/>
            <a:ext cx="8165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https://www.mdpi.com/1099-4300/26/8/649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710" name="Google Shape;710;p73"/>
          <p:cNvSpPr txBox="1"/>
          <p:nvPr/>
        </p:nvSpPr>
        <p:spPr>
          <a:xfrm>
            <a:off x="0" y="0"/>
            <a:ext cx="2007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711" name="Google Shape;71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000" y="1474938"/>
            <a:ext cx="11319050" cy="672472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3"/>
          <p:cNvSpPr txBox="1"/>
          <p:nvPr/>
        </p:nvSpPr>
        <p:spPr>
          <a:xfrm>
            <a:off x="4047950" y="8451800"/>
            <a:ext cx="1143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Quantum node 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ayer combined with c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assica</a:t>
            </a:r>
            <a:r>
              <a:rPr b="1" lang="en-US" sz="3300">
                <a:solidFill>
                  <a:schemeClr val="dk1"/>
                </a:solidFill>
              </a:rPr>
              <a:t>l layers </a:t>
            </a:r>
            <a:r>
              <a:rPr b="1" lang="en-US" sz="3600">
                <a:solidFill>
                  <a:schemeClr val="dk1"/>
                </a:solidFill>
              </a:rPr>
              <a:t>  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4"/>
          <p:cNvSpPr/>
          <p:nvPr/>
        </p:nvSpPr>
        <p:spPr>
          <a:xfrm flipH="1" rot="-2708089">
            <a:off x="-563024" y="-377777"/>
            <a:ext cx="2746220" cy="207393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4"/>
          <p:cNvSpPr/>
          <p:nvPr/>
        </p:nvSpPr>
        <p:spPr>
          <a:xfrm flipH="1" rot="-2701507">
            <a:off x="1337914" y="633244"/>
            <a:ext cx="967746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74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74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74"/>
          <p:cNvSpPr/>
          <p:nvPr/>
        </p:nvSpPr>
        <p:spPr>
          <a:xfrm flipH="1">
            <a:off x="11406275" y="9679715"/>
            <a:ext cx="1222200" cy="6078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74"/>
          <p:cNvSpPr txBox="1"/>
          <p:nvPr/>
        </p:nvSpPr>
        <p:spPr>
          <a:xfrm>
            <a:off x="4010800" y="8133513"/>
            <a:ext cx="11313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   </a:t>
            </a:r>
            <a:r>
              <a:rPr b="1" lang="en-US" sz="3600">
                <a:solidFill>
                  <a:schemeClr val="dk1"/>
                </a:solidFill>
              </a:rPr>
              <a:t>Bringing Quantum Advantage through AI 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(Hybrid Approaches on QPU/GPUs Hardware)  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723" name="Google Shape;72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500" y="3196125"/>
            <a:ext cx="7875976" cy="422217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4"/>
          <p:cNvSpPr/>
          <p:nvPr/>
        </p:nvSpPr>
        <p:spPr>
          <a:xfrm>
            <a:off x="10209200" y="6712000"/>
            <a:ext cx="8730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725" name="Google Shape;72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7775" y="3332250"/>
            <a:ext cx="5156060" cy="39499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74"/>
          <p:cNvSpPr/>
          <p:nvPr/>
        </p:nvSpPr>
        <p:spPr>
          <a:xfrm rot="-5400000">
            <a:off x="10209350" y="6711850"/>
            <a:ext cx="8730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27" name="Google Shape;727;p74"/>
          <p:cNvSpPr txBox="1"/>
          <p:nvPr/>
        </p:nvSpPr>
        <p:spPr>
          <a:xfrm>
            <a:off x="8333900" y="234375"/>
            <a:ext cx="1875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/>
              <a:t>Aim</a:t>
            </a:r>
            <a:endParaRPr b="1" sz="5400">
              <a:solidFill>
                <a:srgbClr val="000000"/>
              </a:solidFill>
            </a:endParaRPr>
          </a:p>
        </p:txBody>
      </p:sp>
      <p:sp>
        <p:nvSpPr>
          <p:cNvPr id="728" name="Google Shape;728;p74"/>
          <p:cNvSpPr txBox="1"/>
          <p:nvPr/>
        </p:nvSpPr>
        <p:spPr>
          <a:xfrm>
            <a:off x="2582400" y="1801950"/>
            <a:ext cx="13123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</a:rPr>
              <a:t>Combining Quantum with Physics-Informed Neural Networks Neural Operators, </a:t>
            </a:r>
            <a:r>
              <a:rPr b="1" lang="en-US" sz="3400">
                <a:solidFill>
                  <a:schemeClr val="dk1"/>
                </a:solidFill>
              </a:rPr>
              <a:t>Geometry Aware Operator Transformers</a:t>
            </a:r>
            <a:endParaRPr b="1" sz="4000">
              <a:solidFill>
                <a:schemeClr val="dk1"/>
              </a:solidFill>
              <a:highlight>
                <a:srgbClr val="B7B7B7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734" name="Google Shape;734;p75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75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5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5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75"/>
          <p:cNvSpPr/>
          <p:nvPr/>
        </p:nvSpPr>
        <p:spPr>
          <a:xfrm>
            <a:off x="6907700" y="239675"/>
            <a:ext cx="44985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Variants of PINNs</a:t>
            </a:r>
            <a:endParaRPr b="1" sz="6200"/>
          </a:p>
        </p:txBody>
      </p:sp>
      <p:sp>
        <p:nvSpPr>
          <p:cNvPr id="739" name="Google Shape;739;p75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740" name="Google Shape;74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200" y="2221250"/>
            <a:ext cx="13392150" cy="7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746" name="Google Shape;746;p76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76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76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76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76"/>
          <p:cNvSpPr/>
          <p:nvPr/>
        </p:nvSpPr>
        <p:spPr>
          <a:xfrm>
            <a:off x="8273925" y="432725"/>
            <a:ext cx="13689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UPS</a:t>
            </a:r>
            <a:endParaRPr b="1" sz="6200"/>
          </a:p>
        </p:txBody>
      </p:sp>
      <p:sp>
        <p:nvSpPr>
          <p:cNvPr id="751" name="Google Shape;751;p76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752" name="Google Shape;75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075" y="1910725"/>
            <a:ext cx="13903525" cy="729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758" name="Google Shape;758;p77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77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7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7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77"/>
          <p:cNvSpPr/>
          <p:nvPr/>
        </p:nvSpPr>
        <p:spPr>
          <a:xfrm>
            <a:off x="6907700" y="239675"/>
            <a:ext cx="44985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Variants of PINNs</a:t>
            </a:r>
            <a:endParaRPr b="1" sz="6200"/>
          </a:p>
        </p:txBody>
      </p:sp>
      <p:sp>
        <p:nvSpPr>
          <p:cNvPr id="763" name="Google Shape;763;p77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764" name="Google Shape;76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200" y="2221250"/>
            <a:ext cx="13392150" cy="7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8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8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78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8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8"/>
          <p:cNvSpPr/>
          <p:nvPr/>
        </p:nvSpPr>
        <p:spPr>
          <a:xfrm>
            <a:off x="4233550" y="239688"/>
            <a:ext cx="94497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b="1" lang="en-US" sz="3300">
                <a:solidFill>
                  <a:schemeClr val="dk1"/>
                </a:solidFill>
              </a:rPr>
              <a:t>Quantum Physics Informed Neural Networks</a:t>
            </a:r>
            <a:endParaRPr sz="43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774" name="Google Shape;774;p78"/>
          <p:cNvSpPr txBox="1"/>
          <p:nvPr/>
        </p:nvSpPr>
        <p:spPr>
          <a:xfrm>
            <a:off x="161150" y="9534950"/>
            <a:ext cx="8165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https://www.mdpi.com/1099-4300/26/8/649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775" name="Google Shape;775;p78"/>
          <p:cNvSpPr txBox="1"/>
          <p:nvPr/>
        </p:nvSpPr>
        <p:spPr>
          <a:xfrm>
            <a:off x="0" y="0"/>
            <a:ext cx="2007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Theory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776" name="Google Shape;776;p78"/>
          <p:cNvSpPr txBox="1"/>
          <p:nvPr/>
        </p:nvSpPr>
        <p:spPr>
          <a:xfrm>
            <a:off x="4047950" y="8451800"/>
            <a:ext cx="1143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Quantum node 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ayer combined with c</a:t>
            </a:r>
            <a:r>
              <a:rPr b="1" lang="en-US" sz="3300">
                <a:solidFill>
                  <a:schemeClr val="dk1"/>
                </a:solidFill>
              </a:rPr>
              <a:t>l</a:t>
            </a:r>
            <a:r>
              <a:rPr b="1" lang="en-US" sz="3600">
                <a:solidFill>
                  <a:schemeClr val="dk1"/>
                </a:solidFill>
              </a:rPr>
              <a:t>assica</a:t>
            </a:r>
            <a:r>
              <a:rPr b="1" lang="en-US" sz="3300">
                <a:solidFill>
                  <a:schemeClr val="dk1"/>
                </a:solidFill>
              </a:rPr>
              <a:t>l layers </a:t>
            </a:r>
            <a:r>
              <a:rPr b="1" lang="en-US" sz="3600">
                <a:solidFill>
                  <a:schemeClr val="dk1"/>
                </a:solidFill>
              </a:rPr>
              <a:t>  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777" name="Google Shape;77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050" y="2357650"/>
            <a:ext cx="12816350" cy="52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783" name="Google Shape;783;p79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9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9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9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9"/>
          <p:cNvSpPr/>
          <p:nvPr/>
        </p:nvSpPr>
        <p:spPr>
          <a:xfrm>
            <a:off x="7845300" y="695125"/>
            <a:ext cx="17451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HINTS</a:t>
            </a:r>
            <a:endParaRPr b="1" sz="6200"/>
          </a:p>
        </p:txBody>
      </p:sp>
      <p:sp>
        <p:nvSpPr>
          <p:cNvPr id="788" name="Google Shape;788;p79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789" name="Google Shape;78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2247900"/>
            <a:ext cx="13030200" cy="64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0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80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80"/>
          <p:cNvSpPr/>
          <p:nvPr/>
        </p:nvSpPr>
        <p:spPr>
          <a:xfrm flipH="1" rot="-2700000">
            <a:off x="15065346" y="982659"/>
            <a:ext cx="1030962" cy="1030962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80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80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80"/>
          <p:cNvSpPr txBox="1"/>
          <p:nvPr/>
        </p:nvSpPr>
        <p:spPr>
          <a:xfrm>
            <a:off x="2316325" y="881700"/>
            <a:ext cx="13993500" cy="85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Multi-physics Integration</a:t>
            </a:r>
            <a:r>
              <a:rPr lang="en-US" sz="3500">
                <a:solidFill>
                  <a:schemeClr val="dk1"/>
                </a:solidFill>
              </a:rPr>
              <a:t>: Fluid Dynamics, heat transfer, and chemical kinetics</a:t>
            </a:r>
            <a:endParaRPr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Data Efficiency</a:t>
            </a:r>
            <a:r>
              <a:rPr lang="en-US" sz="3500">
                <a:solidFill>
                  <a:schemeClr val="dk1"/>
                </a:solidFill>
              </a:rPr>
              <a:t>: By incorporating physical laws, accurate predictions even with limited experimental data</a:t>
            </a:r>
            <a:endParaRPr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Interpretability</a:t>
            </a:r>
            <a:r>
              <a:rPr lang="en-US" sz="3500">
                <a:solidFill>
                  <a:schemeClr val="dk1"/>
                </a:solidFill>
              </a:rPr>
              <a:t>: physics-informed nature of PINNs allows for better interpretability of results</a:t>
            </a:r>
            <a:endParaRPr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AutoNum type="arabicPeriod"/>
            </a:pPr>
            <a:r>
              <a:rPr b="1" lang="en-US" sz="3500">
                <a:solidFill>
                  <a:schemeClr val="dk1"/>
                </a:solidFill>
              </a:rPr>
              <a:t>Adaptability</a:t>
            </a:r>
            <a:r>
              <a:rPr lang="en-US" sz="3500">
                <a:solidFill>
                  <a:schemeClr val="dk1"/>
                </a:solidFill>
              </a:rPr>
              <a:t>: different processes and configurations by adjusting equations and boundary conditions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800" name="Google Shape;800;p80"/>
          <p:cNvSpPr txBox="1"/>
          <p:nvPr/>
        </p:nvSpPr>
        <p:spPr>
          <a:xfrm>
            <a:off x="5784349" y="230388"/>
            <a:ext cx="7591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dk1"/>
                </a:solidFill>
              </a:rPr>
              <a:t>Advantages of PINNs 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806" name="Google Shape;806;p81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81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81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81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81"/>
          <p:cNvSpPr/>
          <p:nvPr/>
        </p:nvSpPr>
        <p:spPr>
          <a:xfrm>
            <a:off x="6771300" y="0"/>
            <a:ext cx="47454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Simulation Results</a:t>
            </a:r>
            <a:endParaRPr b="1" sz="6200"/>
          </a:p>
        </p:txBody>
      </p:sp>
      <p:pic>
        <p:nvPicPr>
          <p:cNvPr id="811" name="Google Shape;8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225" y="1237400"/>
            <a:ext cx="11972701" cy="8035924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81"/>
          <p:cNvSpPr txBox="1"/>
          <p:nvPr/>
        </p:nvSpPr>
        <p:spPr>
          <a:xfrm>
            <a:off x="161150" y="9679725"/>
            <a:ext cx="70101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 https://arxiv.org/html/2304.11247v3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818" name="Google Shape;818;p82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2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82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82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82"/>
          <p:cNvSpPr/>
          <p:nvPr/>
        </p:nvSpPr>
        <p:spPr>
          <a:xfrm>
            <a:off x="6907700" y="239675"/>
            <a:ext cx="49509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Simulations Results</a:t>
            </a:r>
            <a:endParaRPr b="1" sz="6200"/>
          </a:p>
        </p:txBody>
      </p:sp>
      <p:pic>
        <p:nvPicPr>
          <p:cNvPr id="823" name="Google Shape;82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937" y="1732463"/>
            <a:ext cx="13662424" cy="72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QML Quantum Node Layers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Classical PINN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Turbulent Flows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CRFP Vessels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829" name="Google Shape;829;p83"/>
          <p:cNvSpPr/>
          <p:nvPr/>
        </p:nvSpPr>
        <p:spPr>
          <a:xfrm flipH="1" rot="-2704049">
            <a:off x="-563127" y="-379348"/>
            <a:ext cx="2742983" cy="2069066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83"/>
          <p:cNvSpPr/>
          <p:nvPr/>
        </p:nvSpPr>
        <p:spPr>
          <a:xfrm flipH="1" rot="-2700753">
            <a:off x="1337658" y="633244"/>
            <a:ext cx="967958" cy="968171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83"/>
          <p:cNvSpPr/>
          <p:nvPr/>
        </p:nvSpPr>
        <p:spPr>
          <a:xfrm flipH="1" rot="10800000">
            <a:off x="14034964" y="0"/>
            <a:ext cx="4253036" cy="2221256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3"/>
          <p:cNvSpPr/>
          <p:nvPr/>
        </p:nvSpPr>
        <p:spPr>
          <a:xfrm flipH="1">
            <a:off x="11406275" y="9679715"/>
            <a:ext cx="1222200" cy="607500"/>
          </a:xfrm>
          <a:prstGeom prst="triangle">
            <a:avLst>
              <a:gd fmla="val 50000" name="adj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83"/>
          <p:cNvSpPr/>
          <p:nvPr/>
        </p:nvSpPr>
        <p:spPr>
          <a:xfrm>
            <a:off x="7845300" y="695125"/>
            <a:ext cx="1745100" cy="831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HINTS</a:t>
            </a:r>
            <a:endParaRPr b="1" sz="6200"/>
          </a:p>
        </p:txBody>
      </p:sp>
      <p:sp>
        <p:nvSpPr>
          <p:cNvPr id="834" name="Google Shape;834;p83"/>
          <p:cNvSpPr txBox="1"/>
          <p:nvPr/>
        </p:nvSpPr>
        <p:spPr>
          <a:xfrm>
            <a:off x="162125" y="9679725"/>
            <a:ext cx="685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Source: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835" name="Google Shape;83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2247900"/>
            <a:ext cx="13030200" cy="64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4"/>
          <p:cNvSpPr txBox="1"/>
          <p:nvPr/>
        </p:nvSpPr>
        <p:spPr>
          <a:xfrm>
            <a:off x="5232175" y="9599700"/>
            <a:ext cx="6384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QCPINN: Quantum-Classical Physics-Informed Neural Networks for Solving PDEs, AfraFareah et al., </a:t>
            </a:r>
            <a:r>
              <a:rPr lang="en-US"/>
              <a:t>https://arxiv.org/pdf/2503.16678</a:t>
            </a:r>
            <a:endParaRPr/>
          </a:p>
        </p:txBody>
      </p:sp>
      <p:sp>
        <p:nvSpPr>
          <p:cNvPr id="842" name="Google Shape;842;p84"/>
          <p:cNvSpPr txBox="1"/>
          <p:nvPr/>
        </p:nvSpPr>
        <p:spPr>
          <a:xfrm>
            <a:off x="4677925" y="554250"/>
            <a:ext cx="101097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practical case study. Higher generalization.</a:t>
            </a:r>
            <a:endParaRPr i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3" name="Google Shape;843;p84" title="IMAG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1549050"/>
            <a:ext cx="13283421" cy="789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84"/>
          <p:cNvSpPr txBox="1"/>
          <p:nvPr/>
        </p:nvSpPr>
        <p:spPr>
          <a:xfrm>
            <a:off x="9865775" y="1817950"/>
            <a:ext cx="67176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variable (CV) quantum neural network can emulate a classical non-linear affine transformation – a neuron.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|x\rangle = |\Phi(Mx+b)\rangle = \Phi(D\circ U_2 \circ S \circ U_1)" id="845" name="Google Shape;845;p84" title="MathEquation,#c01c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0" y="3646725"/>
            <a:ext cx="8979614" cy="594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84"/>
          <p:cNvSpPr/>
          <p:nvPr/>
        </p:nvSpPr>
        <p:spPr>
          <a:xfrm>
            <a:off x="11134250" y="4932600"/>
            <a:ext cx="6717600" cy="2482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not always granted. Topic under study also inside QuaSi.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advantage : 80-90%   reduction of the training volume data, same solution quality.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